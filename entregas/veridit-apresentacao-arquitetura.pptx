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0312fe8-4501-c6fd-dacd-820dd0d2af07}">
          <p14:sldIdLst>
            <p14:sldId id="256"/>
          </p14:sldIdLst>
        </p14:section>
        <p14:section name="Contexto" id="{769316ca-63b5-161c-cd53-698b8c48653f}">
          <p14:sldIdLst>
            <p14:sldId id="257"/>
          </p14:sldIdLst>
        </p14:section>
        <p14:section name="Características" id="{6a97860b-a174-a027-ce8c-4278519bc777}">
          <p14:sldIdLst>
            <p14:sldId id="258"/>
            <p14:sldId id="259"/>
          </p14:sldIdLst>
        </p14:section>
        <p14:section name="Estilo" id="{463cf654-5d13-7b3d-d0ef-0028cfa62d6e}">
          <p14:sldIdLst>
            <p14:sldId id="260"/>
            <p14:sldId id="261"/>
          </p14:sldIdLst>
        </p14:section>
        <p14:section name="Componentes" id="{c44f2115-0876-e54c-0d8a-e3150a6dc877}">
          <p14:sldIdLst>
            <p14:sldId id="262"/>
            <p14:sldId id="263"/>
          </p14:sldIdLst>
        </p14:section>
        <p14:section name="Componentes críticos" id="{7bb1439c-23b4-c6e4-34a8-26303fae2253}">
          <p14:sldIdLst>
            <p14:sldId id="264"/>
            <p14:sldId id="265"/>
            <p14:sldId id="266"/>
            <p14:sldId id="267"/>
          </p14:sldIdLst>
        </p14:section>
        <p14:section name="Módulos e táticas" id="{a8ead6d3-108e-1c0a-3bcd-25be8137c1c2}">
          <p14:sldIdLst>
            <p14:sldId id="268"/>
            <p14:sldId id="269"/>
          </p14:sldIdLst>
        </p14:section>
        <p14:section name="Decisões" id="{3072e9ce-fa1c-ee36-d4e5-9717e588cf92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da arquitetura do Veridit. Base: Richards &amp; Ford, Fundamentals of Software Architecture. Roteiro: problema, características, top 4, estilo, componentes, componentes críticos, módulos, táticas e ADRs.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do produto em quatro etapas. A etapa 3 não está escrita nos requisitos, mas é o que dá valor de prova ao registro. Atenção: o documento tem dois REQ11; chamamos o segundo de REQ11-B.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Explícita: só segurança. Implícitas vêm do domínio: pagamento antecipado (confiabilidade), captura pesada (escalabilidade), valor de prova (integridade). O livro alerta contra a arquitetura genérica, que tenta atender todas.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Critério: características cuja falha torna o produto inútil ou perigoso e que mudam a forma da arquitetura. As quatro juntas levam a separar a captura e a usar mensageria assíncrona. Metas dos cenários são iniciais e devem ser validadas com 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Microsserviços teriam notas máximas de escalabilidade, mas custo e simplicidade 1, banco por serviço e transações distribuídas para créditos: desproporcional. Orientado a eventos puro: testabilidade 2. Camadas: um pico de capturas derrubaria login e pagamentos. Usamos eventos só onde a assincronia é natural.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Banco compartilhado com isolamento por esquema e usuário (ADR-0010): simplicidade do service-based sem acoplamento entre tabelas. S4 e S6 não acessam o banco e só usam mensageria, por isso formam quanta arquiteturais próprios. S4 é o único com escala elástica.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Componentes nomeados pelo que fazem, não pelas tabelas. Cada um tem responsabilidades e requisitos mapeados no documento (seção 5 e rastreabilidade na seção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Linhas cheias: chamadas síncronas. Tracejadas: webhook do Mercado Pago e streaming da sessão. O broker conecta captura, selagem, notificações e auditoria. Só a reserva de créditos é chamada síncrona entre serviços.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característica do top 4 é coberta por pelo menos um componente detalhado. No documento, cada um tem diagrama interno e tabela de subcomponentes.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captura fosse feita por extensão no navegador do usuário, ele poderia editar a página antes de capturar. No servidor, a plataforma pode afirmar como e de onde o conteúdo foi obtido. Workers sem estado permitem escalar só esta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ADR-0004. O pacote .zip leva arquivos, manifesto, assinatura e carimbo, então um perito verifica offline com sha256sum e OpenSSL, sem depender do Veridit. O registro só vira 'Concluído' depois de selado.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carteira é um livro-razão somente de inserção: reserva, consumo e estorno são lançamentos. Um job verifica se o saldo é igual à soma dos lançamentos. Teste de concorrência: N reservas com saldo para uma resultam em exatamente um sucesso.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de pacotes UML. A inversão de dependência permite testar o domínio sem banco nem broker. As funções de aptidão (fitness functions) são o mecanismo do livro para garantir as decisões ao longo do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Táticas no sentido de Bass, Clements e Kazman. Cada tática tem objetivo e componente onde é aplicada no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laranja, as duas ADRs pedidas explicitamente: top 4 e estilo. As demais detalham decisões ligadas a cada característica do top 4. Cada ADR tem uma seção de conformidade com a função de aptidão correspondente.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com as premissas que dependem do cliente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Veridit · Arquitetura de Software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Veridit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4"/>
                </a:solidFill>
              </a:rPr>
              <a:t>Arquitetura de Software · Trabalho II</a:t>
            </a:r>
            <a:endParaRPr lang="en-US" sz="2400" dirty="0"/>
          </a:p>
        </p:txBody>
      </p:sp>
      <p:sp>
        <p:nvSpPr>
          <p:cNvPr id="4" name="rodapé da capa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Engenharia de Software I · Prof. Dr. Eduardo Almeida · UFBA · Outubro de 2026</a:t>
            </a:r>
            <a:endParaRPr lang="en-US" sz="1400" dirty="0"/>
          </a:p>
        </p:txBody>
      </p:sp>
      <p:sp>
        <p:nvSpPr>
          <p:cNvPr id="5" name="selo círculo"/>
          <p:cNvSpPr/>
          <p:nvPr/>
        </p:nvSpPr>
        <p:spPr>
          <a:xfrm>
            <a:off x="9966960" y="640080"/>
            <a:ext cx="1371600" cy="1371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selo ícone" descr="se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3576" y="996696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 que o Veridit faz</a:t>
            </a:r>
            <a:endParaRPr lang="en-US" sz="3400" dirty="0"/>
          </a:p>
        </p:txBody>
      </p:sp>
      <p:sp>
        <p:nvSpPr>
          <p:cNvPr id="3" name="etapa 1"/>
          <p:cNvSpPr/>
          <p:nvPr/>
        </p:nvSpPr>
        <p:spPr>
          <a:xfrm>
            <a:off x="54864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tapa 1 círculo"/>
          <p:cNvSpPr/>
          <p:nvPr/>
        </p:nvSpPr>
        <p:spPr>
          <a:xfrm>
            <a:off x="822960" y="164592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etapa 1 ícone" descr="etapa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8598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Comprar créditos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Pacotes básico, médio e premium; pagamento pelo Mercado Pago ou Pix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REQ05–REQ07</a:t>
            </a:r>
            <a:endParaRPr lang="en-US" sz="1200" dirty="0"/>
          </a:p>
        </p:txBody>
      </p:sp>
      <p:sp>
        <p:nvSpPr>
          <p:cNvPr id="9" name="etapa 2"/>
          <p:cNvSpPr/>
          <p:nvPr/>
        </p:nvSpPr>
        <p:spPr>
          <a:xfrm>
            <a:off x="338328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etapa 2 círculo"/>
          <p:cNvSpPr/>
          <p:nvPr/>
        </p:nvSpPr>
        <p:spPr>
          <a:xfrm>
            <a:off x="3657600" y="164592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etapa 2 ícone" descr="etapa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570" y="185989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Capturar conteúdo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3063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Tela ou vídeo da navegação em um site informado pelo usuário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REQ08–REQ11</a:t>
            </a:r>
            <a:endParaRPr lang="en-US" sz="1200" dirty="0"/>
          </a:p>
        </p:txBody>
      </p:sp>
      <p:sp>
        <p:nvSpPr>
          <p:cNvPr id="15" name="etapa 3"/>
          <p:cNvSpPr/>
          <p:nvPr/>
        </p:nvSpPr>
        <p:spPr>
          <a:xfrm>
            <a:off x="621792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etapa 3 círculo"/>
          <p:cNvSpPr/>
          <p:nvPr/>
        </p:nvSpPr>
        <p:spPr>
          <a:xfrm>
            <a:off x="6492240" y="16459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etapa 3 ícone" descr="etapa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210" y="185989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9224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Selar a evidência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92240" y="3063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Provar que nada foi alterado e quando foi capturado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Implícito (D1)</a:t>
            </a:r>
            <a:endParaRPr lang="en-US" sz="1200" dirty="0"/>
          </a:p>
        </p:txBody>
      </p:sp>
      <p:sp>
        <p:nvSpPr>
          <p:cNvPr id="21" name="etapa 4"/>
          <p:cNvSpPr/>
          <p:nvPr/>
        </p:nvSpPr>
        <p:spPr>
          <a:xfrm>
            <a:off x="905256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etapa 4 círculo"/>
          <p:cNvSpPr/>
          <p:nvPr/>
        </p:nvSpPr>
        <p:spPr>
          <a:xfrm>
            <a:off x="9326880" y="164592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3" name="etapa 4 ícone" descr="etapa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0850" y="1859890"/>
            <a:ext cx="395021" cy="39502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2688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Relatório e .zip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326880" y="3063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Listar, detalhar e baixar o que foi registrado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9326880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REQ12–REQ15</a:t>
            </a:r>
            <a:endParaRPr lang="en-US" sz="1200" dirty="0"/>
          </a:p>
        </p:txBody>
      </p:sp>
      <p:sp>
        <p:nvSpPr>
          <p:cNvPr id="27" name="mensagem"/>
          <p:cNvSpPr txBox="1"/>
          <p:nvPr/>
        </p:nvSpPr>
        <p:spPr>
          <a:xfrm>
            <a:off x="548640" y="47548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Por que importa: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advogados estão entre os usuários (D1), então o registro tende a virar prova. A única característica explícita nos requisitos é Segurança; as demais vêm do domínio.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12 características identificadas</a:t>
            </a:r>
            <a:endParaRPr lang="en-US" sz="3400" dirty="0"/>
          </a:p>
        </p:txBody>
      </p:sp>
      <p:sp>
        <p:nvSpPr>
          <p:cNvPr id="3" name="característica Segurança"/>
          <p:cNvSpPr/>
          <p:nvPr/>
        </p:nvSpPr>
        <p:spPr>
          <a:xfrm>
            <a:off x="548640" y="132588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Segurança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391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Transversal · explícita</a:t>
            </a:r>
            <a:endParaRPr lang="en-US" sz="1200" dirty="0"/>
          </a:p>
        </p:txBody>
      </p:sp>
      <p:sp>
        <p:nvSpPr>
          <p:cNvPr id="6" name="badge TOP 4"/>
          <p:cNvSpPr txBox="1"/>
          <p:nvPr/>
        </p:nvSpPr>
        <p:spPr>
          <a:xfrm>
            <a:off x="2377440" y="2103120"/>
            <a:ext cx="640080" cy="256032"/>
          </a:xfrm>
          <a:prstGeom prst="roundRect">
            <a:avLst>
              <a:gd name="adj" fmla="val 2857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TOP 4</a:t>
            </a:r>
            <a:endParaRPr lang="en-US" sz="1000" dirty="0"/>
          </a:p>
        </p:txBody>
      </p:sp>
      <p:sp>
        <p:nvSpPr>
          <p:cNvPr id="7" name="característica Integridade das evidências"/>
          <p:cNvSpPr/>
          <p:nvPr/>
        </p:nvSpPr>
        <p:spPr>
          <a:xfrm>
            <a:off x="3360420" y="132588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3300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Integridade das evidências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43300" y="20391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Transversal · implícita</a:t>
            </a:r>
            <a:endParaRPr lang="en-US" sz="1200" dirty="0"/>
          </a:p>
        </p:txBody>
      </p:sp>
      <p:sp>
        <p:nvSpPr>
          <p:cNvPr id="10" name="badge TOP 4"/>
          <p:cNvSpPr txBox="1"/>
          <p:nvPr/>
        </p:nvSpPr>
        <p:spPr>
          <a:xfrm>
            <a:off x="5189220" y="2103120"/>
            <a:ext cx="640080" cy="256032"/>
          </a:xfrm>
          <a:prstGeom prst="roundRect">
            <a:avLst>
              <a:gd name="adj" fmla="val 2857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TOP 4</a:t>
            </a:r>
            <a:endParaRPr lang="en-US" sz="1000" dirty="0"/>
          </a:p>
        </p:txBody>
      </p:sp>
      <p:sp>
        <p:nvSpPr>
          <p:cNvPr id="11" name="característica Confiabilidade"/>
          <p:cNvSpPr/>
          <p:nvPr/>
        </p:nvSpPr>
        <p:spPr>
          <a:xfrm>
            <a:off x="6172200" y="132588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Confiabilidade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0391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Operacional · implícita</a:t>
            </a:r>
            <a:endParaRPr lang="en-US" sz="1200" dirty="0"/>
          </a:p>
        </p:txBody>
      </p:sp>
      <p:sp>
        <p:nvSpPr>
          <p:cNvPr id="14" name="badge TOP 4"/>
          <p:cNvSpPr txBox="1"/>
          <p:nvPr/>
        </p:nvSpPr>
        <p:spPr>
          <a:xfrm>
            <a:off x="8001000" y="2103120"/>
            <a:ext cx="640080" cy="256032"/>
          </a:xfrm>
          <a:prstGeom prst="roundRect">
            <a:avLst>
              <a:gd name="adj" fmla="val 2857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TOP 4</a:t>
            </a:r>
            <a:endParaRPr lang="en-US" sz="1000" dirty="0"/>
          </a:p>
        </p:txBody>
      </p:sp>
      <p:sp>
        <p:nvSpPr>
          <p:cNvPr id="15" name="característica Escalabilidade / elasticidade"/>
          <p:cNvSpPr/>
          <p:nvPr/>
        </p:nvSpPr>
        <p:spPr>
          <a:xfrm>
            <a:off x="8983980" y="132588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66860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Escalabilidade / elasticidade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166860" y="20391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Operacional · implícita</a:t>
            </a:r>
            <a:endParaRPr lang="en-US" sz="1200" dirty="0"/>
          </a:p>
        </p:txBody>
      </p:sp>
      <p:sp>
        <p:nvSpPr>
          <p:cNvPr id="18" name="badge TOP 4"/>
          <p:cNvSpPr txBox="1"/>
          <p:nvPr/>
        </p:nvSpPr>
        <p:spPr>
          <a:xfrm>
            <a:off x="10812780" y="2103120"/>
            <a:ext cx="640080" cy="256032"/>
          </a:xfrm>
          <a:prstGeom prst="roundRect">
            <a:avLst>
              <a:gd name="adj" fmla="val 2857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TOP 4</a:t>
            </a:r>
            <a:endParaRPr lang="en-US" sz="1000" dirty="0"/>
          </a:p>
        </p:txBody>
      </p:sp>
      <p:sp>
        <p:nvSpPr>
          <p:cNvPr id="19" name="característica Disponibilidade"/>
          <p:cNvSpPr/>
          <p:nvPr/>
        </p:nvSpPr>
        <p:spPr>
          <a:xfrm>
            <a:off x="548640" y="269748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Disponibilidade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4107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Operacional · implícita</a:t>
            </a:r>
            <a:endParaRPr lang="en-US" sz="1200" dirty="0"/>
          </a:p>
        </p:txBody>
      </p:sp>
      <p:sp>
        <p:nvSpPr>
          <p:cNvPr id="22" name="característica Desempenho"/>
          <p:cNvSpPr/>
          <p:nvPr/>
        </p:nvSpPr>
        <p:spPr>
          <a:xfrm>
            <a:off x="3360420" y="269748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4330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Desempenho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543300" y="34107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Operacional · implícita</a:t>
            </a:r>
            <a:endParaRPr lang="en-US" sz="1200" dirty="0"/>
          </a:p>
        </p:txBody>
      </p:sp>
      <p:sp>
        <p:nvSpPr>
          <p:cNvPr id="25" name="característica Recuperabilidade"/>
          <p:cNvSpPr/>
          <p:nvPr/>
        </p:nvSpPr>
        <p:spPr>
          <a:xfrm>
            <a:off x="6172200" y="269748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Recuperabilidade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34107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Operacional · implícita</a:t>
            </a:r>
            <a:endParaRPr lang="en-US" sz="1200" dirty="0"/>
          </a:p>
        </p:txBody>
      </p:sp>
      <p:sp>
        <p:nvSpPr>
          <p:cNvPr id="28" name="característica Auditabilidade"/>
          <p:cNvSpPr/>
          <p:nvPr/>
        </p:nvSpPr>
        <p:spPr>
          <a:xfrm>
            <a:off x="8983980" y="269748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6686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Auditabilidade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166860" y="34107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Transversal · implícita</a:t>
            </a:r>
            <a:endParaRPr lang="en-US" sz="1200" dirty="0"/>
          </a:p>
        </p:txBody>
      </p:sp>
      <p:sp>
        <p:nvSpPr>
          <p:cNvPr id="31" name="característica Privacidade (LGPD)"/>
          <p:cNvSpPr/>
          <p:nvPr/>
        </p:nvSpPr>
        <p:spPr>
          <a:xfrm>
            <a:off x="548640" y="406908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4251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Privacidade (LGPD)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47823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Transversal · implícita</a:t>
            </a:r>
            <a:endParaRPr lang="en-US" sz="1200" dirty="0"/>
          </a:p>
        </p:txBody>
      </p:sp>
      <p:sp>
        <p:nvSpPr>
          <p:cNvPr id="34" name="característica Extensibilidade (D1, D2)"/>
          <p:cNvSpPr/>
          <p:nvPr/>
        </p:nvSpPr>
        <p:spPr>
          <a:xfrm>
            <a:off x="3360420" y="406908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43300" y="4251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Extensibilidade (D1, D2)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3543300" y="47823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Estrutural · implícita</a:t>
            </a:r>
            <a:endParaRPr lang="en-US" sz="1200" dirty="0"/>
          </a:p>
        </p:txBody>
      </p:sp>
      <p:sp>
        <p:nvSpPr>
          <p:cNvPr id="37" name="característica Interoperabilidade"/>
          <p:cNvSpPr/>
          <p:nvPr/>
        </p:nvSpPr>
        <p:spPr>
          <a:xfrm>
            <a:off x="6172200" y="406908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55080" y="4251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Interoperabilidade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355080" y="47823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Estrutural · implícita</a:t>
            </a:r>
            <a:endParaRPr lang="en-US" sz="1200" dirty="0"/>
          </a:p>
        </p:txBody>
      </p:sp>
      <p:sp>
        <p:nvSpPr>
          <p:cNvPr id="40" name="característica Manutenibilidade"/>
          <p:cNvSpPr/>
          <p:nvPr/>
        </p:nvSpPr>
        <p:spPr>
          <a:xfrm>
            <a:off x="8983980" y="406908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66860" y="4251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Manutenibilidade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9166860" y="47823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Estrutural · implícita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Fontes (Richards &amp; Ford): requisitos explícitos, requisitos funcionais que implicam características e conhecimento do domínio. Só 4 direcionam a estrutura; as demais viram táticas.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Top 4 características (ADR-0001)</a:t>
            </a:r>
            <a:endParaRPr lang="en-US" sz="3400" dirty="0"/>
          </a:p>
        </p:txBody>
      </p:sp>
      <p:sp>
        <p:nvSpPr>
          <p:cNvPr id="3" name="top Segurança"/>
          <p:cNvSpPr/>
          <p:nvPr/>
        </p:nvSpPr>
        <p:spPr>
          <a:xfrm>
            <a:off x="548640" y="1325880"/>
            <a:ext cx="2606040" cy="416052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egurança círculo"/>
          <p:cNvSpPr/>
          <p:nvPr/>
        </p:nvSpPr>
        <p:spPr>
          <a:xfrm>
            <a:off x="777240" y="1554480"/>
            <a:ext cx="777240" cy="7772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Segurança ícone" descr="Seguranç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175656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1. Segurança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Único atributo explícito; CPF, OAB e pagamento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Cenário mensurável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206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100% dos endpoints privados rejeitam requisição sem token</a:t>
            </a:r>
            <a:endParaRPr lang="en-US" sz="1400" dirty="0"/>
          </a:p>
        </p:txBody>
      </p:sp>
      <p:sp>
        <p:nvSpPr>
          <p:cNvPr id="10" name="top Integridade"/>
          <p:cNvSpPr/>
          <p:nvPr/>
        </p:nvSpPr>
        <p:spPr>
          <a:xfrm>
            <a:off x="3383280" y="1325880"/>
            <a:ext cx="2606040" cy="416052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ntegridade círculo"/>
          <p:cNvSpPr/>
          <p:nvPr/>
        </p:nvSpPr>
        <p:spPr>
          <a:xfrm>
            <a:off x="3611880" y="15544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ntegridade ícone" descr="Integrida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962" y="175656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1188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2. Integridade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 ela a evidência não serve como prova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Cenário mensurável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3611880" y="4206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Alterar 1 byte do pacote é detectado na verificação</a:t>
            </a:r>
            <a:endParaRPr lang="en-US" sz="1400" dirty="0"/>
          </a:p>
        </p:txBody>
      </p:sp>
      <p:sp>
        <p:nvSpPr>
          <p:cNvPr id="17" name="top Confiabilidade"/>
          <p:cNvSpPr/>
          <p:nvPr/>
        </p:nvSpPr>
        <p:spPr>
          <a:xfrm>
            <a:off x="6217920" y="1325880"/>
            <a:ext cx="2606040" cy="416052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Confiabilidade círculo"/>
          <p:cNvSpPr/>
          <p:nvPr/>
        </p:nvSpPr>
        <p:spPr>
          <a:xfrm>
            <a:off x="6446520" y="1554480"/>
            <a:ext cx="777240" cy="7772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9" name="Confiabilidade ícone" descr="Confiabilida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1756562"/>
            <a:ext cx="373075" cy="37307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4652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3. Confiabilidade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644652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Modelo pré-pago: dinheiro e créditos do usuário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44652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Cenário mensurável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446520" y="4206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 créditos perdidos ou duplicados, mesmo com falhas</a:t>
            </a:r>
            <a:endParaRPr lang="en-US" sz="1400" dirty="0"/>
          </a:p>
        </p:txBody>
      </p:sp>
      <p:sp>
        <p:nvSpPr>
          <p:cNvPr id="24" name="top Escalabilidade"/>
          <p:cNvSpPr/>
          <p:nvPr/>
        </p:nvSpPr>
        <p:spPr>
          <a:xfrm>
            <a:off x="9052560" y="1325880"/>
            <a:ext cx="2606040" cy="416052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Escalabilidade círculo"/>
          <p:cNvSpPr/>
          <p:nvPr/>
        </p:nvSpPr>
        <p:spPr>
          <a:xfrm>
            <a:off x="9281160" y="1554480"/>
            <a:ext cx="777240" cy="7772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6" name="Escalabilidade ícone" descr="Escalabilida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3242" y="1756562"/>
            <a:ext cx="373075" cy="37307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8116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4. Escalabilidade</a:t>
            </a:r>
            <a:endParaRPr lang="en-US" sz="1900" dirty="0"/>
          </a:p>
        </p:txBody>
      </p:sp>
      <p:sp>
        <p:nvSpPr>
          <p:cNvPr id="28" name="Text 22"/>
          <p:cNvSpPr txBox="1"/>
          <p:nvPr/>
        </p:nvSpPr>
        <p:spPr>
          <a:xfrm>
            <a:off x="928116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Captura é pesada, longa e irregular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928116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Cenário mensurável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9281160" y="4206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10x sessões só adicionando workers; espera p95 ≤ 30 s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Ficaram de fora: disponibilidade (sem SLA), desempenho (depende do site), auditabilidade e privacidade (cobertas por táticas).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Estilo: baseado em serviços (ADR-0002)</a:t>
            </a:r>
            <a:endParaRPr lang="en-US" sz="3400" dirty="0"/>
          </a:p>
        </p:txBody>
      </p:sp>
      <p:graphicFrame>
        <p:nvGraphicFramePr>
          <p:cNvPr id="6" name="comparação de estil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1325880"/>
                <a:gridCol w="1325880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Característica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Camadas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Baseado em serviços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Orientado a eventos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Microsserviços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Escalabilidade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Elasticidade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Tolerância a falhas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Confiabilidade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Testabilidade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Simplicidade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Custo (5 = barato)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Notas por estrelas de Richards &amp; Ford (1 a 5)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77240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Equilíbrio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16916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Boa tolerância a falhas, confiabilidade e testabilidade com custo e simplicidade viáveis para a equipe.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697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Fraqueza tratada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0632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Elasticidade 2 resolvida isolando a Captura em workers sem estado alimentados por fila (ADR-0009).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Isolamento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44348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navegador que abre sites externos fica longe dos dados pessoais e de pagamento.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7 serviços implantados separadamente</a:t>
            </a:r>
            <a:endParaRPr lang="en-US" sz="3400" dirty="0"/>
          </a:p>
        </p:txBody>
      </p:sp>
      <p:sp>
        <p:nvSpPr>
          <p:cNvPr id="3" name="serviço S1"/>
          <p:cNvSpPr/>
          <p:nvPr/>
        </p:nvSpPr>
        <p:spPr>
          <a:xfrm>
            <a:off x="548640" y="132588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badge S1"/>
          <p:cNvSpPr txBox="1"/>
          <p:nvPr/>
        </p:nvSpPr>
        <p:spPr>
          <a:xfrm>
            <a:off x="731520" y="1508760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Identidade e Acesso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Cadastro, login, logout, recuperação de senha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esquema identidade</a:t>
            </a:r>
            <a:endParaRPr lang="en-US" sz="1100" dirty="0"/>
          </a:p>
        </p:txBody>
      </p:sp>
      <p:sp>
        <p:nvSpPr>
          <p:cNvPr id="8" name="serviço S2"/>
          <p:cNvSpPr/>
          <p:nvPr/>
        </p:nvSpPr>
        <p:spPr>
          <a:xfrm>
            <a:off x="3360420" y="132588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badge S2"/>
          <p:cNvSpPr txBox="1"/>
          <p:nvPr/>
        </p:nvSpPr>
        <p:spPr>
          <a:xfrm>
            <a:off x="3543300" y="1508760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4330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Créditos e Pagamentos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4330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Pacotes, compra, Mercado Pago / Pix, carteira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4330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esquema creditos</a:t>
            </a:r>
            <a:endParaRPr lang="en-US" sz="1100" dirty="0"/>
          </a:p>
        </p:txBody>
      </p:sp>
      <p:sp>
        <p:nvSpPr>
          <p:cNvPr id="13" name="serviço S3"/>
          <p:cNvSpPr/>
          <p:nvPr/>
        </p:nvSpPr>
        <p:spPr>
          <a:xfrm>
            <a:off x="6172200" y="132588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badge S3"/>
          <p:cNvSpPr txBox="1"/>
          <p:nvPr/>
        </p:nvSpPr>
        <p:spPr>
          <a:xfrm>
            <a:off x="6355080" y="1508760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Registros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Criar, listar e detalhar registros; saga da captura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esquema registros</a:t>
            </a:r>
            <a:endParaRPr lang="en-US" sz="1100" dirty="0"/>
          </a:p>
        </p:txBody>
      </p:sp>
      <p:sp>
        <p:nvSpPr>
          <p:cNvPr id="18" name="serviço S4"/>
          <p:cNvSpPr/>
          <p:nvPr/>
        </p:nvSpPr>
        <p:spPr>
          <a:xfrm>
            <a:off x="8983980" y="132588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badge S4"/>
          <p:cNvSpPr txBox="1"/>
          <p:nvPr/>
        </p:nvSpPr>
        <p:spPr>
          <a:xfrm>
            <a:off x="9166860" y="1508760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6686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Captura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16686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Navegador remoto isolado; workers elásticos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16686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sem banco · quantum próprio</a:t>
            </a:r>
            <a:endParaRPr lang="en-US" sz="1100" dirty="0"/>
          </a:p>
        </p:txBody>
      </p:sp>
      <p:sp>
        <p:nvSpPr>
          <p:cNvPr id="23" name="serviço S5"/>
          <p:cNvSpPr/>
          <p:nvPr/>
        </p:nvSpPr>
        <p:spPr>
          <a:xfrm>
            <a:off x="548640" y="347472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badge S5"/>
          <p:cNvSpPr txBox="1"/>
          <p:nvPr/>
        </p:nvSpPr>
        <p:spPr>
          <a:xfrm>
            <a:off x="731520" y="3657600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023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Evidências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434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Selagem, repositório WORM, relatório e .zip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029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esquema evidencias</a:t>
            </a:r>
            <a:endParaRPr lang="en-US" sz="1100" dirty="0"/>
          </a:p>
        </p:txBody>
      </p:sp>
      <p:sp>
        <p:nvSpPr>
          <p:cNvPr id="28" name="serviço S6"/>
          <p:cNvSpPr/>
          <p:nvPr/>
        </p:nvSpPr>
        <p:spPr>
          <a:xfrm>
            <a:off x="3360420" y="347472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9" name="badge S6"/>
          <p:cNvSpPr txBox="1"/>
          <p:nvPr/>
        </p:nvSpPr>
        <p:spPr>
          <a:xfrm>
            <a:off x="3543300" y="3657600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S6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543300" y="4023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Notificações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543300" y="4434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E-mails a partir de eventos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543300" y="5029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sem banco · quantum próprio</a:t>
            </a:r>
            <a:endParaRPr lang="en-US" sz="1100" dirty="0"/>
          </a:p>
        </p:txBody>
      </p:sp>
      <p:sp>
        <p:nvSpPr>
          <p:cNvPr id="33" name="serviço S7"/>
          <p:cNvSpPr/>
          <p:nvPr/>
        </p:nvSpPr>
        <p:spPr>
          <a:xfrm>
            <a:off x="6172200" y="347472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4" name="badge S7"/>
          <p:cNvSpPr txBox="1"/>
          <p:nvPr/>
        </p:nvSpPr>
        <p:spPr>
          <a:xfrm>
            <a:off x="6355080" y="3657600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S7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355080" y="4023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Auditoria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355080" y="4434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Trilha de eventos encadeada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355080" y="5029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esquema auditoria</a:t>
            </a:r>
            <a:endParaRPr lang="en-US" sz="1100" dirty="0"/>
          </a:p>
        </p:txBody>
      </p:sp>
      <p:sp>
        <p:nvSpPr>
          <p:cNvPr id="38" name="borda e infraestrutura"/>
          <p:cNvSpPr/>
          <p:nvPr/>
        </p:nvSpPr>
        <p:spPr>
          <a:xfrm>
            <a:off x="8983980" y="347472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16686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Borda e infraestrutura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9166860" y="40690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SPA + API Gateway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Broker de mensagens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PostgreSQL (esquema por serviço)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Armazenamento de objetos (WORM)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18 componentes candidatos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Borda</a:t>
            </a:r>
            <a:endParaRPr lang="en-US" sz="1400" dirty="0"/>
          </a:p>
        </p:txBody>
      </p:sp>
      <p:sp>
        <p:nvSpPr>
          <p:cNvPr id="4" name="badge C01"/>
          <p:cNvSpPr txBox="1"/>
          <p:nvPr/>
        </p:nvSpPr>
        <p:spPr>
          <a:xfrm>
            <a:off x="548640" y="1728216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C01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7099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Aplicação Web</a:t>
            </a:r>
            <a:endParaRPr lang="en-US" sz="1400" dirty="0"/>
          </a:p>
        </p:txBody>
      </p:sp>
      <p:sp>
        <p:nvSpPr>
          <p:cNvPr id="6" name="badge C02"/>
          <p:cNvSpPr txBox="1"/>
          <p:nvPr/>
        </p:nvSpPr>
        <p:spPr>
          <a:xfrm>
            <a:off x="548640" y="2130552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C02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122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API Gateway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S1 Identidade</a:t>
            </a:r>
            <a:endParaRPr lang="en-US" sz="1400" dirty="0"/>
          </a:p>
        </p:txBody>
      </p:sp>
      <p:sp>
        <p:nvSpPr>
          <p:cNvPr id="9" name="badge C03"/>
          <p:cNvSpPr txBox="1"/>
          <p:nvPr/>
        </p:nvSpPr>
        <p:spPr>
          <a:xfrm>
            <a:off x="3383280" y="1728216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C03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041648" y="17099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Cadastro de Usuários</a:t>
            </a:r>
            <a:endParaRPr lang="en-US" sz="1400" dirty="0"/>
          </a:p>
        </p:txBody>
      </p:sp>
      <p:sp>
        <p:nvSpPr>
          <p:cNvPr id="11" name="badge C04"/>
          <p:cNvSpPr txBox="1"/>
          <p:nvPr/>
        </p:nvSpPr>
        <p:spPr>
          <a:xfrm>
            <a:off x="3383280" y="2130552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C04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041648" y="21122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Autenticação e Sessão</a:t>
            </a:r>
            <a:endParaRPr lang="en-US" sz="1400" dirty="0"/>
          </a:p>
        </p:txBody>
      </p:sp>
      <p:sp>
        <p:nvSpPr>
          <p:cNvPr id="13" name="badge C05"/>
          <p:cNvSpPr txBox="1"/>
          <p:nvPr/>
        </p:nvSpPr>
        <p:spPr>
          <a:xfrm>
            <a:off x="3383280" y="2532888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C05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041648" y="25146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Recuperação de Senha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S2 Créditos</a:t>
            </a:r>
            <a:endParaRPr lang="en-US" sz="1400" dirty="0"/>
          </a:p>
        </p:txBody>
      </p:sp>
      <p:sp>
        <p:nvSpPr>
          <p:cNvPr id="16" name="badge C06"/>
          <p:cNvSpPr txBox="1"/>
          <p:nvPr/>
        </p:nvSpPr>
        <p:spPr>
          <a:xfrm>
            <a:off x="6217920" y="1728216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C06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876288" y="17099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Catálogo de Pacotes</a:t>
            </a:r>
            <a:endParaRPr lang="en-US" sz="1400" dirty="0"/>
          </a:p>
        </p:txBody>
      </p:sp>
      <p:sp>
        <p:nvSpPr>
          <p:cNvPr id="18" name="badge C07"/>
          <p:cNvSpPr txBox="1"/>
          <p:nvPr/>
        </p:nvSpPr>
        <p:spPr>
          <a:xfrm>
            <a:off x="6217920" y="2130552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C07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76288" y="21122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Compra de Créditos</a:t>
            </a:r>
            <a:endParaRPr lang="en-US" sz="1400" dirty="0"/>
          </a:p>
        </p:txBody>
      </p:sp>
      <p:sp>
        <p:nvSpPr>
          <p:cNvPr id="20" name="badge C08"/>
          <p:cNvSpPr txBox="1"/>
          <p:nvPr/>
        </p:nvSpPr>
        <p:spPr>
          <a:xfrm>
            <a:off x="6217920" y="2532888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C08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25146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Proc. de Pagamentos</a:t>
            </a:r>
            <a:endParaRPr lang="en-US" sz="1400" dirty="0"/>
          </a:p>
        </p:txBody>
      </p:sp>
      <p:sp>
        <p:nvSpPr>
          <p:cNvPr id="22" name="badge C09"/>
          <p:cNvSpPr txBox="1"/>
          <p:nvPr/>
        </p:nvSpPr>
        <p:spPr>
          <a:xfrm>
            <a:off x="6217920" y="2935224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C09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876288" y="29169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Carteira de Créditos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S3 Registros</a:t>
            </a:r>
            <a:endParaRPr lang="en-US" sz="1400" dirty="0"/>
          </a:p>
        </p:txBody>
      </p:sp>
      <p:sp>
        <p:nvSpPr>
          <p:cNvPr id="25" name="badge C10"/>
          <p:cNvSpPr txBox="1"/>
          <p:nvPr/>
        </p:nvSpPr>
        <p:spPr>
          <a:xfrm>
            <a:off x="9052560" y="1728216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C10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710928" y="17099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Gestão de Registros</a:t>
            </a:r>
            <a:endParaRPr lang="en-US" sz="1400" dirty="0"/>
          </a:p>
        </p:txBody>
      </p:sp>
      <p:sp>
        <p:nvSpPr>
          <p:cNvPr id="27" name="badge C11"/>
          <p:cNvSpPr txBox="1"/>
          <p:nvPr/>
        </p:nvSpPr>
        <p:spPr>
          <a:xfrm>
            <a:off x="9052560" y="2130552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C11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710928" y="21122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Orquestrador de Captura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2743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S4 Captura</a:t>
            </a:r>
            <a:endParaRPr lang="en-US" sz="1400" dirty="0"/>
          </a:p>
        </p:txBody>
      </p:sp>
      <p:sp>
        <p:nvSpPr>
          <p:cNvPr id="30" name="badge C12"/>
          <p:cNvSpPr txBox="1"/>
          <p:nvPr/>
        </p:nvSpPr>
        <p:spPr>
          <a:xfrm>
            <a:off x="548640" y="3145536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C12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207008" y="31272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Motor de Captura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383280" y="31455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S5 Evidências</a:t>
            </a:r>
            <a:endParaRPr lang="en-US" sz="1400" dirty="0"/>
          </a:p>
        </p:txBody>
      </p:sp>
      <p:sp>
        <p:nvSpPr>
          <p:cNvPr id="33" name="badge C13"/>
          <p:cNvSpPr txBox="1"/>
          <p:nvPr/>
        </p:nvSpPr>
        <p:spPr>
          <a:xfrm>
            <a:off x="3383280" y="3547872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C13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041648" y="352958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Selagem de Evidências</a:t>
            </a:r>
            <a:endParaRPr lang="en-US" sz="1400" dirty="0"/>
          </a:p>
        </p:txBody>
      </p:sp>
      <p:sp>
        <p:nvSpPr>
          <p:cNvPr id="35" name="badge C14"/>
          <p:cNvSpPr txBox="1"/>
          <p:nvPr/>
        </p:nvSpPr>
        <p:spPr>
          <a:xfrm>
            <a:off x="3383280" y="3950208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C14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041648" y="3931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Repositório de Evidências</a:t>
            </a:r>
            <a:endParaRPr lang="en-US" sz="1400" dirty="0"/>
          </a:p>
        </p:txBody>
      </p:sp>
      <p:sp>
        <p:nvSpPr>
          <p:cNvPr id="37" name="badge C15"/>
          <p:cNvSpPr txBox="1"/>
          <p:nvPr/>
        </p:nvSpPr>
        <p:spPr>
          <a:xfrm>
            <a:off x="3383280" y="4352544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C15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041648" y="43342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Gerador de Relatórios</a:t>
            </a:r>
            <a:endParaRPr lang="en-US" sz="1400" dirty="0"/>
          </a:p>
        </p:txBody>
      </p:sp>
      <p:sp>
        <p:nvSpPr>
          <p:cNvPr id="39" name="badge C16"/>
          <p:cNvSpPr txBox="1"/>
          <p:nvPr/>
        </p:nvSpPr>
        <p:spPr>
          <a:xfrm>
            <a:off x="3383280" y="4754880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C16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041648" y="4736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Empacotador ZIP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9052560" y="2743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S6 Notificações</a:t>
            </a:r>
            <a:endParaRPr lang="en-US" sz="1400" dirty="0"/>
          </a:p>
        </p:txBody>
      </p:sp>
      <p:sp>
        <p:nvSpPr>
          <p:cNvPr id="42" name="badge C17"/>
          <p:cNvSpPr txBox="1"/>
          <p:nvPr/>
        </p:nvSpPr>
        <p:spPr>
          <a:xfrm>
            <a:off x="9052560" y="3145536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C17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710928" y="31272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Notificações por E-mail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217920" y="35478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S7 Auditoria</a:t>
            </a:r>
            <a:endParaRPr lang="en-US" sz="1400" dirty="0"/>
          </a:p>
        </p:txBody>
      </p:sp>
      <p:sp>
        <p:nvSpPr>
          <p:cNvPr id="45" name="badge C18"/>
          <p:cNvSpPr txBox="1"/>
          <p:nvPr/>
        </p:nvSpPr>
        <p:spPr>
          <a:xfrm>
            <a:off x="6217920" y="3950208"/>
            <a:ext cx="566928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C18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876288" y="3931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Trilha de Auditoria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Laranja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 = crítico, especificado internamente. Identificação por ator/ações e por fluxo de trabalho, evitando a "armadilha da entidade".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Diagrama de componentes</a:t>
            </a:r>
            <a:endParaRPr lang="en-US" sz="3400" dirty="0"/>
          </a:p>
        </p:txBody>
      </p:sp>
      <p:pic>
        <p:nvPicPr>
          <p:cNvPr id="3" name="diagrama de componentes" descr="diagrama de componen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936" y="1097280"/>
            <a:ext cx="9883648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Componentes críticos especificados</a:t>
            </a:r>
            <a:endParaRPr lang="en-US" sz="3400" dirty="0"/>
          </a:p>
        </p:txBody>
      </p:sp>
      <p:sp>
        <p:nvSpPr>
          <p:cNvPr id="3" name="destaque 33%"/>
          <p:cNvSpPr/>
          <p:nvPr/>
        </p:nvSpPr>
        <p:spPr>
          <a:xfrm>
            <a:off x="548640" y="1325880"/>
            <a:ext cx="2926080" cy="4480560"/>
          </a:xfrm>
          <a:prstGeom prst="roundRect">
            <a:avLst>
              <a:gd name="adj" fmla="val 312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33%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1089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6 de 18 componentes detalhados internamente (mínimo exigido: 30%)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343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Critério: essencial para ao menos uma das top 4 e sua falha compromete o produto.</a:t>
            </a:r>
            <a:endParaRPr lang="en-US" sz="1400" dirty="0"/>
          </a:p>
        </p:txBody>
      </p:sp>
      <p:sp>
        <p:nvSpPr>
          <p:cNvPr id="7" name="badge C04"/>
          <p:cNvSpPr txBox="1"/>
          <p:nvPr/>
        </p:nvSpPr>
        <p:spPr>
          <a:xfrm>
            <a:off x="3840480" y="1435608"/>
            <a:ext cx="6400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C04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325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Autenticação e Sessão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6550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Porta de entrada de todo acesso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25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Segurança</a:t>
            </a:r>
            <a:endParaRPr lang="en-US" sz="1300" dirty="0"/>
          </a:p>
        </p:txBody>
      </p:sp>
      <p:sp>
        <p:nvSpPr>
          <p:cNvPr id="11" name="divisor"/>
          <p:cNvSpPr/>
          <p:nvPr/>
        </p:nvSpPr>
        <p:spPr>
          <a:xfrm>
            <a:off x="3840480" y="2039112"/>
            <a:ext cx="77724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2" name="badge C08"/>
          <p:cNvSpPr txBox="1"/>
          <p:nvPr/>
        </p:nvSpPr>
        <p:spPr>
          <a:xfrm>
            <a:off x="3840480" y="2185416"/>
            <a:ext cx="6400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C08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0756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Processamento de Pagamentos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404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Dinheiro + webhooks assíncronos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0756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Segurança, Confiabilidade</a:t>
            </a:r>
            <a:endParaRPr lang="en-US" sz="1300" dirty="0"/>
          </a:p>
        </p:txBody>
      </p:sp>
      <p:sp>
        <p:nvSpPr>
          <p:cNvPr id="16" name="divisor"/>
          <p:cNvSpPr/>
          <p:nvPr/>
        </p:nvSpPr>
        <p:spPr>
          <a:xfrm>
            <a:off x="3840480" y="2788920"/>
            <a:ext cx="77724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7" name="badge C09"/>
          <p:cNvSpPr txBox="1"/>
          <p:nvPr/>
        </p:nvSpPr>
        <p:spPr>
          <a:xfrm>
            <a:off x="3840480" y="2935224"/>
            <a:ext cx="6400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C09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82549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Carteira de Créditos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Saldo do usuário; corridas geram prejuízo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282549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Confiabilidade</a:t>
            </a:r>
            <a:endParaRPr lang="en-US" sz="1300" dirty="0"/>
          </a:p>
        </p:txBody>
      </p:sp>
      <p:sp>
        <p:nvSpPr>
          <p:cNvPr id="21" name="divisor"/>
          <p:cNvSpPr/>
          <p:nvPr/>
        </p:nvSpPr>
        <p:spPr>
          <a:xfrm>
            <a:off x="3840480" y="3538728"/>
            <a:ext cx="77724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2" name="badge C11"/>
          <p:cNvSpPr txBox="1"/>
          <p:nvPr/>
        </p:nvSpPr>
        <p:spPr>
          <a:xfrm>
            <a:off x="3840480" y="3685032"/>
            <a:ext cx="6400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C11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357530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Orquestrador de Captura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39044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Fluxo distribuído mais longo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357530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Confiabilidade, Escalabilidade</a:t>
            </a:r>
            <a:endParaRPr lang="en-US" sz="1300" dirty="0"/>
          </a:p>
        </p:txBody>
      </p:sp>
      <p:sp>
        <p:nvSpPr>
          <p:cNvPr id="26" name="divisor"/>
          <p:cNvSpPr/>
          <p:nvPr/>
        </p:nvSpPr>
        <p:spPr>
          <a:xfrm>
            <a:off x="3840480" y="4288536"/>
            <a:ext cx="77724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7" name="badge C12"/>
          <p:cNvSpPr txBox="1"/>
          <p:nvPr/>
        </p:nvSpPr>
        <p:spPr>
          <a:xfrm>
            <a:off x="3840480" y="4434840"/>
            <a:ext cx="6400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C12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43251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Motor de Captura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46542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Origem da evidência; conteúdo não confiável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0" y="432511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Integridade, Segurança, Escalab.</a:t>
            </a:r>
            <a:endParaRPr lang="en-US" sz="1300" dirty="0"/>
          </a:p>
        </p:txBody>
      </p:sp>
      <p:sp>
        <p:nvSpPr>
          <p:cNvPr id="31" name="divisor"/>
          <p:cNvSpPr/>
          <p:nvPr/>
        </p:nvSpPr>
        <p:spPr>
          <a:xfrm>
            <a:off x="3840480" y="5038344"/>
            <a:ext cx="77724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2" name="badge C13"/>
          <p:cNvSpPr txBox="1"/>
          <p:nvPr/>
        </p:nvSpPr>
        <p:spPr>
          <a:xfrm>
            <a:off x="3840480" y="5184648"/>
            <a:ext cx="6400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C13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663440" y="50749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Selagem de Evidências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4663440" y="54041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Transforma arquivo em prova verificável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5074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Integridade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C12 Motor de Captura</a:t>
            </a:r>
            <a:endParaRPr lang="en-US" sz="3400" dirty="0"/>
          </a:p>
        </p:txBody>
      </p:sp>
      <p:pic>
        <p:nvPicPr>
          <p:cNvPr id="3" name="C12 estrutura interna" descr="C12 estrutura inter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10907"/>
            <a:ext cx="7589520" cy="438482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Ambiente controlado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1709928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navegação acontece no servidor, não no dispositivo do usuário (ADR-0003).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Isolado e descartável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3310128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Contêiner efêmero, rede isolada, sem cookies persistentes.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Metadados técnicos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910328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URL final, IP, DNS, cabeçalhos HTTP, certificado TLS e horário NTP.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C13 Selagem de Evidências</a:t>
            </a:r>
            <a:endParaRPr lang="en-US" sz="3400" dirty="0"/>
          </a:p>
        </p:txBody>
      </p:sp>
      <p:pic>
        <p:nvPicPr>
          <p:cNvPr id="3" name="C13 estrutura interna" descr="C13 estrutura inter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90440"/>
            <a:ext cx="11430000" cy="2556880"/>
          </a:xfrm>
          <a:prstGeom prst="rect">
            <a:avLst/>
          </a:prstGeom>
        </p:spPr>
      </p:pic>
      <p:sp>
        <p:nvSpPr>
          <p:cNvPr id="4" name="selagem SHA-256"/>
          <p:cNvSpPr/>
          <p:nvPr/>
        </p:nvSpPr>
        <p:spPr>
          <a:xfrm>
            <a:off x="548640" y="40690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-256 círculo"/>
          <p:cNvSpPr/>
          <p:nvPr/>
        </p:nvSpPr>
        <p:spPr>
          <a:xfrm>
            <a:off x="731520" y="4251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SHA-256 ícone" descr="SHA-25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4418381"/>
            <a:ext cx="307238" cy="3072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4297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SHA-256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Detecta qualquer alteração em qualquer arquivo</a:t>
            </a:r>
            <a:endParaRPr lang="en-US" sz="1400" dirty="0"/>
          </a:p>
        </p:txBody>
      </p:sp>
      <p:sp>
        <p:nvSpPr>
          <p:cNvPr id="9" name="selagem Assinatura (KMS)"/>
          <p:cNvSpPr/>
          <p:nvPr/>
        </p:nvSpPr>
        <p:spPr>
          <a:xfrm>
            <a:off x="3383280" y="40690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Assinatura (KMS) círculo"/>
          <p:cNvSpPr/>
          <p:nvPr/>
        </p:nvSpPr>
        <p:spPr>
          <a:xfrm>
            <a:off x="3566160" y="4251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Assinatura (KMS) ícone" descr="Assinatura (KMS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581" y="4418381"/>
            <a:ext cx="307238" cy="30723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343400" y="4297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Assinatura (KMS)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3566160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Prova que o pacote foi emitido pelo Veridit</a:t>
            </a:r>
            <a:endParaRPr lang="en-US" sz="1400" dirty="0"/>
          </a:p>
        </p:txBody>
      </p:sp>
      <p:sp>
        <p:nvSpPr>
          <p:cNvPr id="14" name="selagem Carimbo do tempo"/>
          <p:cNvSpPr/>
          <p:nvPr/>
        </p:nvSpPr>
        <p:spPr>
          <a:xfrm>
            <a:off x="6217920" y="40690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imbo do tempo círculo"/>
          <p:cNvSpPr/>
          <p:nvPr/>
        </p:nvSpPr>
        <p:spPr>
          <a:xfrm>
            <a:off x="6400800" y="4251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Carimbo do tempo ícone" descr="Carimbo do temp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21" y="4418381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78040" y="4297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Carimbo do tempo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0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ACT ICP-Brasil (RFC 3161) prova quando</a:t>
            </a:r>
            <a:endParaRPr lang="en-US" sz="1400" dirty="0"/>
          </a:p>
        </p:txBody>
      </p:sp>
      <p:sp>
        <p:nvSpPr>
          <p:cNvPr id="19" name="selagem Armazenamento WORM"/>
          <p:cNvSpPr/>
          <p:nvPr/>
        </p:nvSpPr>
        <p:spPr>
          <a:xfrm>
            <a:off x="9052560" y="40690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Armazenamento WORM círculo"/>
          <p:cNvSpPr/>
          <p:nvPr/>
        </p:nvSpPr>
        <p:spPr>
          <a:xfrm>
            <a:off x="9235440" y="4251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Armazenamento WORM ícone" descr="Armazenamento WOR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1861" y="441838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012680" y="4297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Armazenamento WORM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9235440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Nem administradores conseguem alterar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C11 + C09: créditos nunca se perdem</a:t>
            </a:r>
            <a:endParaRPr lang="en-US" sz="3400" dirty="0"/>
          </a:p>
        </p:txBody>
      </p:sp>
      <p:pic>
        <p:nvPicPr>
          <p:cNvPr id="3" name="estados do registro" descr="estados do regist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84" y="1143000"/>
            <a:ext cx="4257431" cy="5120640"/>
          </a:xfrm>
          <a:prstGeom prst="rect">
            <a:avLst/>
          </a:prstGeom>
        </p:spPr>
      </p:pic>
      <p:sp>
        <p:nvSpPr>
          <p:cNvPr id="4" name="badge 1"/>
          <p:cNvSpPr txBox="1"/>
          <p:nvPr/>
        </p:nvSpPr>
        <p:spPr>
          <a:xfrm>
            <a:off x="5486400" y="1316736"/>
            <a:ext cx="384048" cy="292608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12801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Reservar ao iniciar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66420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 saldo, o registro é recusado e o usuário vai para a compra (ADR-0008).</a:t>
            </a:r>
            <a:endParaRPr lang="en-US" sz="1400" dirty="0"/>
          </a:p>
        </p:txBody>
      </p:sp>
      <p:sp>
        <p:nvSpPr>
          <p:cNvPr id="7" name="badge 2"/>
          <p:cNvSpPr txBox="1"/>
          <p:nvPr/>
        </p:nvSpPr>
        <p:spPr>
          <a:xfrm>
            <a:off x="5486400" y="2523744"/>
            <a:ext cx="384048" cy="292608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48716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Consumir só após selar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2871216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reserva vira consumo apenas quando a evidência está selada.</a:t>
            </a:r>
            <a:endParaRPr lang="en-US" sz="1400" dirty="0"/>
          </a:p>
        </p:txBody>
      </p:sp>
      <p:sp>
        <p:nvSpPr>
          <p:cNvPr id="10" name="badge 3"/>
          <p:cNvSpPr txBox="1"/>
          <p:nvPr/>
        </p:nvSpPr>
        <p:spPr>
          <a:xfrm>
            <a:off x="5486400" y="3730752"/>
            <a:ext cx="384048" cy="292608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369417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Estornar em falha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4078224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Timeout, cancelamento ou erro devolvem a reserva (compensação da saga).</a:t>
            </a:r>
            <a:endParaRPr lang="en-US" sz="1400" dirty="0"/>
          </a:p>
        </p:txBody>
      </p:sp>
      <p:sp>
        <p:nvSpPr>
          <p:cNvPr id="13" name="badge 4"/>
          <p:cNvSpPr txBox="1"/>
          <p:nvPr/>
        </p:nvSpPr>
        <p:spPr>
          <a:xfrm>
            <a:off x="5486400" y="4937760"/>
            <a:ext cx="384048" cy="292608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490118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Nada se perde no caminho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5285232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Outbox transacional + consumidores idempotentes + DLQ (ADR-0007).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Diagrama de pacotes (módulos)</a:t>
            </a:r>
            <a:endParaRPr lang="en-US" sz="3400" dirty="0"/>
          </a:p>
        </p:txBody>
      </p:sp>
      <p:pic>
        <p:nvPicPr>
          <p:cNvPr id="3" name="diagrama de pacotes" descr="diagrama de paco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544" y="1143000"/>
            <a:ext cx="6782192" cy="5120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9552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Sem import entre serviços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955280" y="17099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Comunicação só por compartilhado.contratos (DTOs e eventos).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Camadas no serviço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33101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api → aplicacao → dominio; infraestrutura implementa as portas do domínio.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Verificado no CI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49103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Funções de aptidão bloqueiam dependências proibidas e acesso a esquema alheio.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Principais táticas do top 4</a:t>
            </a:r>
            <a:endParaRPr lang="en-US" sz="3400" dirty="0"/>
          </a:p>
        </p:txBody>
      </p:sp>
      <p:sp>
        <p:nvSpPr>
          <p:cNvPr id="3" name="táticas Segurança"/>
          <p:cNvSpPr/>
          <p:nvPr/>
        </p:nvSpPr>
        <p:spPr>
          <a:xfrm>
            <a:off x="548640" y="1325880"/>
            <a:ext cx="2606040" cy="42976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egurança círculo"/>
          <p:cNvSpPr/>
          <p:nvPr/>
        </p:nvSpPr>
        <p:spPr>
          <a:xfrm>
            <a:off x="777240" y="155448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Segurança ícone" descr="Seguranç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17327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002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Segurança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6888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Autenticar e autorizar atores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Limitar acesso e exposição (gateway)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Separar entidades (sandbox, esquemas)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Revogar acesso no logout</a:t>
            </a:r>
            <a:endParaRPr lang="en-US" sz="1400" dirty="0"/>
          </a:p>
        </p:txBody>
      </p:sp>
      <p:sp>
        <p:nvSpPr>
          <p:cNvPr id="8" name="táticas Integridade"/>
          <p:cNvSpPr/>
          <p:nvPr/>
        </p:nvSpPr>
        <p:spPr>
          <a:xfrm>
            <a:off x="3383280" y="1325880"/>
            <a:ext cx="2606040" cy="42976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ntegridade círculo"/>
          <p:cNvSpPr/>
          <p:nvPr/>
        </p:nvSpPr>
        <p:spPr>
          <a:xfrm>
            <a:off x="3611880" y="155448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ntegridade ícone" descr="Integrida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188" y="17327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34840" y="16002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Integridade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46888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Ambiente de captura controlado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Hash, assinatura e carimbo do tempo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Armazenamento imutável (WORM)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Cadeia de custódia encadeada</a:t>
            </a:r>
            <a:endParaRPr lang="en-US" sz="1400" dirty="0"/>
          </a:p>
        </p:txBody>
      </p:sp>
      <p:sp>
        <p:nvSpPr>
          <p:cNvPr id="13" name="táticas Confiabilidade"/>
          <p:cNvSpPr/>
          <p:nvPr/>
        </p:nvSpPr>
        <p:spPr>
          <a:xfrm>
            <a:off x="6217920" y="1325880"/>
            <a:ext cx="2606040" cy="42976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onfiabilidade círculo"/>
          <p:cNvSpPr/>
          <p:nvPr/>
        </p:nvSpPr>
        <p:spPr>
          <a:xfrm>
            <a:off x="6446520" y="155448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Confiabilidade ícone" descr="Confiabilida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828" y="17327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69480" y="16002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Confiabilidade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46888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Outbox transacional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Consumidores idempotentes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Saga com compensação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Reconciliação de pagamentos</a:t>
            </a:r>
            <a:endParaRPr lang="en-US" sz="1400" dirty="0"/>
          </a:p>
        </p:txBody>
      </p:sp>
      <p:sp>
        <p:nvSpPr>
          <p:cNvPr id="18" name="táticas Escalabilidade"/>
          <p:cNvSpPr/>
          <p:nvPr/>
        </p:nvSpPr>
        <p:spPr>
          <a:xfrm>
            <a:off x="9052560" y="1325880"/>
            <a:ext cx="2606040" cy="42976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Escalabilidade círculo"/>
          <p:cNvSpPr/>
          <p:nvPr/>
        </p:nvSpPr>
        <p:spPr>
          <a:xfrm>
            <a:off x="9281160" y="155448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Escalabilidade ícone" descr="Escalabilida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468" y="173278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104120" y="16002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Escalabilidade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235440" y="246888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Workers sem estado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Autoescalonamento pela fila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Fila como buffer de carga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Limitar demanda por usuário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 documento traz as táticas das 12 características, com o objetivo de cada uma (seção 9).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Decisões arquiteturais (ADRs)</a:t>
            </a:r>
            <a:endParaRPr lang="en-US" sz="3400" dirty="0"/>
          </a:p>
        </p:txBody>
      </p:sp>
      <p:sp>
        <p:nvSpPr>
          <p:cNvPr id="3" name="badge ADR-0001"/>
          <p:cNvSpPr txBox="1"/>
          <p:nvPr/>
        </p:nvSpPr>
        <p:spPr>
          <a:xfrm>
            <a:off x="548640" y="1481328"/>
            <a:ext cx="105156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ADR-0001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13716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Top 4 características</a:t>
            </a:r>
            <a:endParaRPr lang="en-US" sz="1600" dirty="0"/>
          </a:p>
        </p:txBody>
      </p:sp>
      <p:sp>
        <p:nvSpPr>
          <p:cNvPr id="5" name="badge ADR-0002"/>
          <p:cNvSpPr txBox="1"/>
          <p:nvPr/>
        </p:nvSpPr>
        <p:spPr>
          <a:xfrm>
            <a:off x="548640" y="2350008"/>
            <a:ext cx="105156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ADR-0002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2402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Estilo baseado em serviços</a:t>
            </a:r>
            <a:endParaRPr lang="en-US" sz="1600" dirty="0"/>
          </a:p>
        </p:txBody>
      </p:sp>
      <p:sp>
        <p:nvSpPr>
          <p:cNvPr id="7" name="badge ADR-0003"/>
          <p:cNvSpPr txBox="1"/>
          <p:nvPr/>
        </p:nvSpPr>
        <p:spPr>
          <a:xfrm>
            <a:off x="548640" y="3218688"/>
            <a:ext cx="105156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ADR-0003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31089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Captura em navegador remoto isolado</a:t>
            </a:r>
            <a:endParaRPr lang="en-US" sz="1600" dirty="0"/>
          </a:p>
        </p:txBody>
      </p:sp>
      <p:sp>
        <p:nvSpPr>
          <p:cNvPr id="9" name="badge ADR-0004"/>
          <p:cNvSpPr txBox="1"/>
          <p:nvPr/>
        </p:nvSpPr>
        <p:spPr>
          <a:xfrm>
            <a:off x="548640" y="4087368"/>
            <a:ext cx="105156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ADR-0004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39776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Selagem: hash, assinatura, carimbo, WORM</a:t>
            </a:r>
            <a:endParaRPr lang="en-US" sz="1600" dirty="0"/>
          </a:p>
        </p:txBody>
      </p:sp>
      <p:sp>
        <p:nvSpPr>
          <p:cNvPr id="11" name="badge ADR-0005"/>
          <p:cNvSpPr txBox="1"/>
          <p:nvPr/>
        </p:nvSpPr>
        <p:spPr>
          <a:xfrm>
            <a:off x="548640" y="4956048"/>
            <a:ext cx="105156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ADR-0005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48463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JWT curto + refresh revogável; Argon2id</a:t>
            </a:r>
            <a:endParaRPr lang="en-US" sz="1600" dirty="0"/>
          </a:p>
        </p:txBody>
      </p:sp>
      <p:sp>
        <p:nvSpPr>
          <p:cNvPr id="13" name="badge ADR-0006"/>
          <p:cNvSpPr txBox="1"/>
          <p:nvPr/>
        </p:nvSpPr>
        <p:spPr>
          <a:xfrm>
            <a:off x="6217920" y="1481328"/>
            <a:ext cx="105156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ADR-0006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13716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Pagamentos via Mercado Pago (checkout e Pix)</a:t>
            </a:r>
            <a:endParaRPr lang="en-US" sz="1600" dirty="0"/>
          </a:p>
        </p:txBody>
      </p:sp>
      <p:sp>
        <p:nvSpPr>
          <p:cNvPr id="15" name="badge ADR-0007"/>
          <p:cNvSpPr txBox="1"/>
          <p:nvPr/>
        </p:nvSpPr>
        <p:spPr>
          <a:xfrm>
            <a:off x="6217920" y="2350008"/>
            <a:ext cx="105156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ADR-0007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452360" y="22402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Outbox, filas duráveis, DLQ e saga</a:t>
            </a:r>
            <a:endParaRPr lang="en-US" sz="1600" dirty="0"/>
          </a:p>
        </p:txBody>
      </p:sp>
      <p:sp>
        <p:nvSpPr>
          <p:cNvPr id="17" name="badge ADR-0008"/>
          <p:cNvSpPr txBox="1"/>
          <p:nvPr/>
        </p:nvSpPr>
        <p:spPr>
          <a:xfrm>
            <a:off x="6217920" y="3218688"/>
            <a:ext cx="105156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ADR-0008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31089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Carteira como livro-razão com reserva</a:t>
            </a:r>
            <a:endParaRPr lang="en-US" sz="1600" dirty="0"/>
          </a:p>
        </p:txBody>
      </p:sp>
      <p:sp>
        <p:nvSpPr>
          <p:cNvPr id="19" name="badge ADR-0009"/>
          <p:cNvSpPr txBox="1"/>
          <p:nvPr/>
        </p:nvSpPr>
        <p:spPr>
          <a:xfrm>
            <a:off x="6217920" y="4087368"/>
            <a:ext cx="105156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ADR-0009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39776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Workers de captura com autoescalonamento</a:t>
            </a:r>
            <a:endParaRPr lang="en-US" sz="1600" dirty="0"/>
          </a:p>
        </p:txBody>
      </p:sp>
      <p:sp>
        <p:nvSpPr>
          <p:cNvPr id="21" name="badge ADR-0010"/>
          <p:cNvSpPr txBox="1"/>
          <p:nvPr/>
        </p:nvSpPr>
        <p:spPr>
          <a:xfrm>
            <a:off x="6217920" y="4956048"/>
            <a:ext cx="105156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ADR-0010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48463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PostgreSQL com esquema por serviço + objetos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Modelo padronizado: contexto, decisão, alternativas, justificativa, consequências, conformidade e requisitos relacionados. Mantidas no Git em docs/arquitetura/adr/.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Riscos e próximos passos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Pontos a validar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Créditos consumidos por tipo de registro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"Pagamento pela plataforma" = Pix na interface do Veridit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Custo da captura remota e sites que bloqueiam datacenter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Retenção WORM x pedidos de exclusão (LGPD)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463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Próximos passos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0116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Protótipo das telas no Figma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Validar premissas com o cliente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Implementar o núcleo: identidade, créditos e registros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Funções de aptidão no CI desde o primeiro commit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Perguntas?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idit">
  <a:themeElements>
    <a:clrScheme name="Veridit">
      <a:dk1>
        <a:srgbClr val="0F172A"/>
      </a:dk1>
      <a:lt1>
        <a:srgbClr val="FFFFFF"/>
      </a:lt1>
      <a:dk2>
        <a:srgbClr val="1E3A5F"/>
      </a:dk2>
      <a:lt2>
        <a:srgbClr val="F1F5F9"/>
      </a:lt2>
      <a:accent1>
        <a:srgbClr val="C2410C"/>
      </a:accent1>
      <a:accent2>
        <a:srgbClr val="1E3A5F"/>
      </a:accent2>
      <a:accent3>
        <a:srgbClr val="64748B"/>
      </a:accent3>
      <a:accent4>
        <a:srgbClr val="FDE8D7"/>
      </a:accent4>
      <a:accent5>
        <a:srgbClr val="E2E8F0"/>
      </a:accent5>
      <a:accent6>
        <a:srgbClr val="0F766E"/>
      </a:accent6>
      <a:hlink>
        <a:srgbClr val="1E3A5F"/>
      </a:hlink>
      <a:folHlink>
        <a:srgbClr val="64748B"/>
      </a:folHlink>
    </a:clrScheme>
    <a:fontScheme name="Verid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Veridit — Arquitetura de Software</dc:title>
  <dc:subject>PptxGenJS Presentation</dc:subject>
  <dc:creator>Equipe Veridit</dc:creator>
  <cp:lastModifiedBy>Equipe Veridit</cp:lastModifiedBy>
  <cp:revision>1</cp:revision>
  <dcterms:created xsi:type="dcterms:W3CDTF">2026-10-15T20:58:20Z</dcterms:created>
  <dcterms:modified xsi:type="dcterms:W3CDTF">2026-10-15T20:58:20Z</dcterms:modified>
</cp:coreProperties>
</file>