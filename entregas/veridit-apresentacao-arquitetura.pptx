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6858000" cx="12192000"/>
  <p:notesSz cx="7099300" cy="10234600"/>
  <p:embeddedFontLst>
    <p:embeddedFont>
      <p:font typeface="Roboto"/>
      <p:regular r:id="rId26"/>
      <p:bold r:id="rId27"/>
      <p:italic r:id="rId28"/>
      <p:boldItalic r:id="rId29"/>
    </p:embeddedFont>
    <p:embeddedFont>
      <p:font typeface="Questrial"/>
      <p:regular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654D32E-62BC-4376-91E9-5BB6A67E0661}">
  <a:tblStyle styleId="{8654D32E-62BC-4376-91E9-5BB6A67E066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Roboto-regular.fntdata"/><Relationship Id="rId25" Type="http://schemas.openxmlformats.org/officeDocument/2006/relationships/slide" Target="slides/slide20.xml"/><Relationship Id="rId28" Type="http://schemas.openxmlformats.org/officeDocument/2006/relationships/font" Target="fonts/Roboto-italic.fntdata"/><Relationship Id="rId27" Type="http://schemas.openxmlformats.org/officeDocument/2006/relationships/font" Target="fonts/Roboto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Robot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0" Type="http://schemas.openxmlformats.org/officeDocument/2006/relationships/font" Target="fonts/Questrial-regular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76362" cy="51350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Questrial"/>
              <a:buNone/>
              <a:defRPr b="0" i="0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021294" y="0"/>
            <a:ext cx="3076362" cy="51350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Questrial"/>
              <a:buNone/>
              <a:defRPr b="0" i="0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479425" y="1279525"/>
            <a:ext cx="6140449" cy="3454399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09929" y="4925407"/>
            <a:ext cx="5679439" cy="40298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721107"/>
            <a:ext cx="3076362" cy="513506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Questrial"/>
              <a:buNone/>
              <a:defRPr b="0" i="0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021294" y="9721107"/>
            <a:ext cx="3076362" cy="513506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Apresentação da arquitetura do Veridit. Base: Richards &amp; Ford, Fundamentals of Software Architecture. Roteiro: problema, características, top 4, estilo, componentes, componentes críticos, módulos, táticas e ADRs.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07" name="Google Shape;107;p3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944ebee391_0_0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944ebee391_0_0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16" name="Google Shape;116;g944ebee391_0_0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sl_03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sl_03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Fluxo do produto em quatro etapas. A etapa 3 não está escrita nos requisitos, mas é o que dá valor de prova ao registro. Atenção: o documento tem dois REQ11; chamamos o segundo de REQ11-B.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24" name="Google Shape;124;sl_03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sl_t1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sl_t1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Fluxo de conta e créditos. O usuário entra ou cria a conta (o advogado informa a OAB), acompanha seus registros e o saldo, escolhe um pacote e paga por Pix na própria plataforma ou pelo Mercado Pago. Os créditos entram assim que o pagamento é confirmado. Cada tela traz no canto os requisitos que atende.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52" name="Google Shape;152;sl_t1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sl_t2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sl_t2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Fluxo do registro. O usuário informa o site e escolhe tela ou vídeo; 1 crédito é reservado. A navegação acontece no navegador isolado do Veridit, que coleta IP, DNS, certificado TLS e horário NTP. Ao concluir, a evidência é selada (hash, assinatura e carimbo do tempo) e o usuário baixa o relatório em PDF e o pacote .zip. Essas telas mostram na prática as ADRs 0003, 0004 e 0008, que aparecem mais adiante.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71" name="Google Shape;171;sl_t2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sl_04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sl_04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Explícita: só segurança. Implícitas vêm do domínio: pagamento antecipado (confiabilidade), captura pesada (escalabilidade), valor de prova (integridade). O livro alerta contra a arquitetura genérica, que tenta atender todas.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91" name="Google Shape;191;sl_04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sl_05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sl_05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Critério: características cuja falha torna o produto inútil ou perigoso e que mudam a forma da arquitetura. As quatro juntas levam a separar a captura e a usar mensageria assíncrona. Metas dos cenários são iniciais e devem ser validadas com o cliente.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35" name="Google Shape;235;sl_05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sl_06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" name="Google Shape;266;sl_06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Microsserviços teriam notas máximas de escalabilidade, mas custo e simplicidade 1, banco por serviço e transações distribuídas para créditos: desproporcional. Orientado a eventos puro: testabilidade 2. Camadas: um pico de capturas derrubaria login e pagamentos. Usamos eventos só onde a assincronia é natural.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67" name="Google Shape;267;sl_06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sl_07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sl_07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Banco compartilhado com isolamento por esquema e usuário (ADR-0010): simplicidade do service-based sem acoplamento entre tabelas. S4 e S6 não acessam o banco e só usam mensageria, por isso formam quanta arquiteturais próprios. S4 é o único com escala elástica.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82" name="Google Shape;282;sl_07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sl_08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sl_08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Componentes nomeados pelo que fazem, não pelas tabelas. Cada um tem responsabilidades e requisitos mapeados no documento (seção 5 e rastreabilidade na seção 11).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28" name="Google Shape;328;sl_08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sl_09s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6" name="Google Shape;336;sl_09s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Linhas cheias: chamadas síncronas. Tracejadas: webhook do Mercado Pago e streaming da sessão. O broker conecta captura, selagem, notificações e auditoria. Só a reserva de créditos é chamada síncrona entre serviços.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37" name="Google Shape;337;sl_09s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sl_09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9" name="Google Shape;379;sl_09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Linhas cheias: chamadas síncronas. Tracejadas: webhook do Mercado Pago e streaming da sessão. O broker conecta captura, selagem, notificações e auditoria. Só a reserva de créditos é chamada síncrona entre serviços.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80" name="Google Shape;380;sl_09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sl_10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7" name="Google Shape;387;sl_10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Cada característica do top 4 é coberta por pelo menos um componente detalhado. No documento, cada um tem diagrama interno e tabela de subcomponentes.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88" name="Google Shape;388;sl_10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sl_11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9" name="Google Shape;399;sl_11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Se a captura fosse feita por extensão no navegador do usuário, ele poderia editar a página antes de capturar. No servidor, a plataforma pode afirmar como e de onde o conteúdo foi obtido. Workers sem estado permitem escalar só esta parte.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00" name="Google Shape;400;sl_11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sl_12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3" name="Google Shape;413;sl_12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ADR-0004. O pacote .zip leva arquivos, manifesto, assinatura e carimbo, então um perito verifica offline com sha256sum e OpenSSL, sem depender do Veridit. O registro só vira 'Concluído' depois de selado.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14" name="Google Shape;414;sl_12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sl_13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3" name="Google Shape;433;sl_13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A carteira é um livro-razão somente de inserção: reserva, consumo e estorno são lançamentos. Um job verifica se o saldo é igual à soma dos lançamentos. Teste de concorrência: N reservas com saldo para uma resultam em exatamente um sucesso.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34" name="Google Shape;434;sl_13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sl_14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3" name="Google Shape;453;sl_14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Diagrama de pacotes UML. A inversão de dependência permite testar o domínio sem banco nem broker. As funções de aptidão (fitness functions) são o mecanismo do livro para garantir as decisões ao longo do tempo.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54" name="Google Shape;454;sl_14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sl_15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7" name="Google Shape;467;sl_15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Táticas no sentido de Bass, Clements e Kazman. Cada tática tem objetivo e componente onde é aplicada no documento.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68" name="Google Shape;468;sl_15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sl_16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1" name="Google Shape;491;sl_16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rPr lang="en-US"/>
              <a:t>Em azul, as duas ADRs pedidas explicitamente: top 4 e estilo. As demais detalham decisões ligadas a cada característica do top 4. Cada ADR tem uma seção de conformidade com a função de aptidão correspondente.</a:t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92" name="Google Shape;492;sl_16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a574d375ee_0_0:notes"/>
          <p:cNvSpPr/>
          <p:nvPr>
            <p:ph idx="2" type="sldImg"/>
          </p:nvPr>
        </p:nvSpPr>
        <p:spPr>
          <a:xfrm>
            <a:off x="479425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1" name="Google Shape;501;g3a574d375ee_0_0:notes"/>
          <p:cNvSpPr txBox="1"/>
          <p:nvPr>
            <p:ph idx="1" type="body"/>
          </p:nvPr>
        </p:nvSpPr>
        <p:spPr>
          <a:xfrm>
            <a:off x="709929" y="4925407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25" spcFirstLastPara="1" rIns="99025" wrap="square" tIns="49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Quest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502" name="Google Shape;502;g3a574d375ee_0_0:notes"/>
          <p:cNvSpPr txBox="1"/>
          <p:nvPr>
            <p:ph idx="12" type="sldNum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9500" lIns="99025" spcFirstLastPara="1" rIns="99025" wrap="square" tIns="495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5"/>
              <a:buFont typeface="Quest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2"/>
          <p:cNvGrpSpPr/>
          <p:nvPr/>
        </p:nvGrpSpPr>
        <p:grpSpPr>
          <a:xfrm>
            <a:off x="3047" y="0"/>
            <a:ext cx="12188951" cy="6858000"/>
            <a:chOff x="3047" y="0"/>
            <a:chExt cx="12188951" cy="6858000"/>
          </a:xfrm>
        </p:grpSpPr>
        <p:sp>
          <p:nvSpPr>
            <p:cNvPr id="30" name="Google Shape;30;p2"/>
            <p:cNvSpPr/>
            <p:nvPr/>
          </p:nvSpPr>
          <p:spPr>
            <a:xfrm>
              <a:off x="3047" y="0"/>
              <a:ext cx="12188951" cy="6858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endParaRPr>
            </a:p>
          </p:txBody>
        </p:sp>
        <p:grpSp>
          <p:nvGrpSpPr>
            <p:cNvPr id="31" name="Google Shape;31;p2"/>
            <p:cNvGrpSpPr/>
            <p:nvPr/>
          </p:nvGrpSpPr>
          <p:grpSpPr>
            <a:xfrm>
              <a:off x="3897881" y="3537159"/>
              <a:ext cx="6525587" cy="196717"/>
              <a:chOff x="3847082" y="4379127"/>
              <a:chExt cx="6525587" cy="196717"/>
            </a:xfrm>
          </p:grpSpPr>
          <p:sp>
            <p:nvSpPr>
              <p:cNvPr descr="Gold bar" id="32" name="Google Shape;32;p2"/>
              <p:cNvSpPr/>
              <p:nvPr/>
            </p:nvSpPr>
            <p:spPr>
              <a:xfrm flipH="1" rot="-5400000">
                <a:off x="4828723" y="3397486"/>
                <a:ext cx="196717" cy="2160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>
                <a:reflection blurRad="0" dir="5400000" dist="50800" endA="300" endPos="38500" kx="0" rotWithShape="0" algn="bl" stA="50000" stPos="0" sy="-100000" ky="0"/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00"/>
                  <a:buFont typeface="Arial"/>
                  <a:buNone/>
                </a:pPr>
                <a:r>
                  <a:t/>
                </a:r>
                <a:endParaRPr b="0" i="0" sz="2400" u="none" cap="none" strike="noStrik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  <p:sp>
            <p:nvSpPr>
              <p:cNvPr descr="Orange bar" id="33" name="Google Shape;33;p2"/>
              <p:cNvSpPr/>
              <p:nvPr/>
            </p:nvSpPr>
            <p:spPr>
              <a:xfrm flipH="1" rot="-5400000">
                <a:off x="7012209" y="3397486"/>
                <a:ext cx="196717" cy="2160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  <a:effectLst>
                <a:reflection blurRad="0" dir="5400000" dist="50800" endA="300" endPos="38500" kx="0" rotWithShape="0" algn="bl" stA="50000" stPos="0" sy="-100000" ky="0"/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00"/>
                  <a:buFont typeface="Arial"/>
                  <a:buNone/>
                </a:pPr>
                <a:r>
                  <a:t/>
                </a:r>
                <a:endParaRPr b="0" i="0" sz="2400" u="none" cap="none" strike="noStrik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  <p:sp>
            <p:nvSpPr>
              <p:cNvPr descr="Slate bar" id="34" name="Google Shape;34;p2"/>
              <p:cNvSpPr/>
              <p:nvPr/>
            </p:nvSpPr>
            <p:spPr>
              <a:xfrm flipH="1" rot="-5400000">
                <a:off x="9194310" y="3397486"/>
                <a:ext cx="196717" cy="2160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  <a:effectLst>
                <a:reflection blurRad="0" dir="5400000" dist="50800" endA="300" endPos="38500" kx="0" rotWithShape="0" algn="bl" stA="50000" stPos="0" sy="-100000" ky="0"/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00"/>
                  <a:buFont typeface="Arial"/>
                  <a:buNone/>
                </a:pPr>
                <a:r>
                  <a:t/>
                </a:r>
                <a:endParaRPr b="0" i="0" sz="2400" u="none" cap="none" strike="noStrik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</p:grpSp>
      </p:grp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524000" y="4056114"/>
            <a:ext cx="9144000" cy="1655761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ctr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ctr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ctr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ctr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ctr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ctr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ctr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type="ctrTitle"/>
          </p:nvPr>
        </p:nvSpPr>
        <p:spPr>
          <a:xfrm>
            <a:off x="1524000" y="912609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Questrial"/>
              <a:buNone/>
              <a:defRPr b="0" i="0" sz="6000" u="none" cap="none" strike="noStrike">
                <a:solidFill>
                  <a:schemeClr val="dk2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37" name="Google Shape;37;p2"/>
          <p:cNvSpPr txBox="1"/>
          <p:nvPr>
            <p:ph idx="10" type="dt"/>
          </p:nvPr>
        </p:nvSpPr>
        <p:spPr>
          <a:xfrm>
            <a:off x="838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38" name="Google Shape;38;p2"/>
          <p:cNvSpPr txBox="1"/>
          <p:nvPr>
            <p:ph idx="11" type="ftr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39" name="Google Shape;39;p2"/>
          <p:cNvSpPr txBox="1"/>
          <p:nvPr>
            <p:ph idx="12" type="sldNum"/>
          </p:nvPr>
        </p:nvSpPr>
        <p:spPr>
          <a:xfrm>
            <a:off x="8077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descr="Gold bar" id="40" name="Google Shape;40;p2"/>
          <p:cNvSpPr/>
          <p:nvPr/>
        </p:nvSpPr>
        <p:spPr>
          <a:xfrm flipH="1" rot="-5400000">
            <a:off x="2692367" y="2555519"/>
            <a:ext cx="196717" cy="2160000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reflection blurRad="0" dir="5400000" dist="50800" endA="300" endPos="38500" kx="0" rotWithShape="0" algn="bl" stA="50000" stPos="0" sy="-100000" ky="0"/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"/>
          <p:cNvSpPr txBox="1"/>
          <p:nvPr>
            <p:ph idx="1" type="body"/>
          </p:nvPr>
        </p:nvSpPr>
        <p:spPr>
          <a:xfrm>
            <a:off x="838200" y="1825625"/>
            <a:ext cx="10515599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▪"/>
              <a:defRPr b="0" i="0" sz="2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43" name="Google Shape;43;p3"/>
          <p:cNvSpPr txBox="1"/>
          <p:nvPr>
            <p:ph type="title"/>
          </p:nvPr>
        </p:nvSpPr>
        <p:spPr>
          <a:xfrm>
            <a:off x="838200" y="365125"/>
            <a:ext cx="10515599" cy="1325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Questrial"/>
              <a:buNone/>
              <a:defRPr b="0" i="0" sz="4400" u="none" cap="none" strike="noStrike">
                <a:solidFill>
                  <a:schemeClr val="dk2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44" name="Google Shape;44;p3"/>
          <p:cNvSpPr txBox="1"/>
          <p:nvPr>
            <p:ph idx="10" type="dt"/>
          </p:nvPr>
        </p:nvSpPr>
        <p:spPr>
          <a:xfrm>
            <a:off x="838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45" name="Google Shape;45;p3"/>
          <p:cNvSpPr txBox="1"/>
          <p:nvPr>
            <p:ph idx="11" type="ftr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46" name="Google Shape;46;p3"/>
          <p:cNvSpPr txBox="1"/>
          <p:nvPr>
            <p:ph idx="12" type="sldNum"/>
          </p:nvPr>
        </p:nvSpPr>
        <p:spPr>
          <a:xfrm>
            <a:off x="8077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4"/>
          <p:cNvSpPr txBox="1"/>
          <p:nvPr>
            <p:ph idx="1" type="body"/>
          </p:nvPr>
        </p:nvSpPr>
        <p:spPr>
          <a:xfrm>
            <a:off x="831850" y="4589462"/>
            <a:ext cx="10515599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type="title"/>
          </p:nvPr>
        </p:nvSpPr>
        <p:spPr>
          <a:xfrm>
            <a:off x="831850" y="1709738"/>
            <a:ext cx="10515599" cy="2862261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Questrial"/>
              <a:buNone/>
              <a:defRPr b="0" i="0" sz="6000" u="none" cap="none" strike="noStrike">
                <a:solidFill>
                  <a:schemeClr val="dk2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50" name="Google Shape;50;p4"/>
          <p:cNvSpPr txBox="1"/>
          <p:nvPr>
            <p:ph idx="10" type="dt"/>
          </p:nvPr>
        </p:nvSpPr>
        <p:spPr>
          <a:xfrm>
            <a:off x="838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51" name="Google Shape;51;p4"/>
          <p:cNvSpPr txBox="1"/>
          <p:nvPr>
            <p:ph idx="11" type="ftr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52" name="Google Shape;52;p4"/>
          <p:cNvSpPr txBox="1"/>
          <p:nvPr>
            <p:ph idx="12" type="sldNum"/>
          </p:nvPr>
        </p:nvSpPr>
        <p:spPr>
          <a:xfrm>
            <a:off x="8077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"/>
          <p:cNvSpPr txBox="1"/>
          <p:nvPr>
            <p:ph idx="1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▪"/>
              <a:defRPr b="0" i="0" sz="2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55" name="Google Shape;55;p5"/>
          <p:cNvSpPr txBox="1"/>
          <p:nvPr>
            <p:ph idx="2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▪"/>
              <a:defRPr b="0" i="0" sz="2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56" name="Google Shape;56;p5"/>
          <p:cNvSpPr txBox="1"/>
          <p:nvPr>
            <p:ph type="title"/>
          </p:nvPr>
        </p:nvSpPr>
        <p:spPr>
          <a:xfrm>
            <a:off x="838200" y="365125"/>
            <a:ext cx="10515599" cy="1325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Questrial"/>
              <a:buNone/>
              <a:defRPr b="0" i="0" sz="4400" u="none" cap="none" strike="noStrike">
                <a:solidFill>
                  <a:schemeClr val="dk2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57" name="Google Shape;57;p5"/>
          <p:cNvSpPr txBox="1"/>
          <p:nvPr>
            <p:ph idx="10" type="dt"/>
          </p:nvPr>
        </p:nvSpPr>
        <p:spPr>
          <a:xfrm>
            <a:off x="838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58" name="Google Shape;58;p5"/>
          <p:cNvSpPr txBox="1"/>
          <p:nvPr>
            <p:ph idx="11" type="ftr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59" name="Google Shape;59;p5"/>
          <p:cNvSpPr txBox="1"/>
          <p:nvPr>
            <p:ph idx="12" type="sldNum"/>
          </p:nvPr>
        </p:nvSpPr>
        <p:spPr>
          <a:xfrm>
            <a:off x="8077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"/>
          <p:cNvSpPr txBox="1"/>
          <p:nvPr>
            <p:ph idx="1" type="body"/>
          </p:nvPr>
        </p:nvSpPr>
        <p:spPr>
          <a:xfrm>
            <a:off x="6189662" y="2193925"/>
            <a:ext cx="5157787" cy="397827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Char char="▪"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Char char="▪"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330200" lvl="5" marL="27432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Char char="▪"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330200" lvl="6" marL="32004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Char char="▪"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330200" lvl="7" marL="36576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Char char="▪"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330200" lvl="8" marL="41148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Char char="▪"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62" name="Google Shape;62;p6"/>
          <p:cNvSpPr txBox="1"/>
          <p:nvPr>
            <p:ph idx="2" type="body"/>
          </p:nvPr>
        </p:nvSpPr>
        <p:spPr>
          <a:xfrm>
            <a:off x="6189662" y="1489075"/>
            <a:ext cx="5157787" cy="64135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Noto Sans Symbols"/>
              <a:buNone/>
              <a:defRPr b="1" i="0" sz="2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1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None/>
              <a:defRPr b="1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1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1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1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1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1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1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63" name="Google Shape;63;p6"/>
          <p:cNvSpPr txBox="1"/>
          <p:nvPr>
            <p:ph idx="3" type="body"/>
          </p:nvPr>
        </p:nvSpPr>
        <p:spPr>
          <a:xfrm>
            <a:off x="831850" y="2193925"/>
            <a:ext cx="5156199" cy="397827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Char char="▪"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Char char="▪"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330200" lvl="5" marL="27432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Char char="▪"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330200" lvl="6" marL="32004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Char char="▪"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330200" lvl="7" marL="36576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Char char="▪"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330200" lvl="8" marL="41148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Char char="▪"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64" name="Google Shape;64;p6"/>
          <p:cNvSpPr txBox="1"/>
          <p:nvPr>
            <p:ph idx="4" type="body"/>
          </p:nvPr>
        </p:nvSpPr>
        <p:spPr>
          <a:xfrm>
            <a:off x="831850" y="1489075"/>
            <a:ext cx="5156199" cy="64135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Noto Sans Symbols"/>
              <a:buNone/>
              <a:defRPr b="1" i="0" sz="2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1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None/>
              <a:defRPr b="1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1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1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1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1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1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1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65" name="Google Shape;65;p6"/>
          <p:cNvSpPr txBox="1"/>
          <p:nvPr>
            <p:ph type="title"/>
          </p:nvPr>
        </p:nvSpPr>
        <p:spPr>
          <a:xfrm>
            <a:off x="831850" y="274637"/>
            <a:ext cx="10515599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Questrial"/>
              <a:buNone/>
              <a:defRPr b="0" i="0" sz="4400" u="none" cap="none" strike="noStrike">
                <a:solidFill>
                  <a:schemeClr val="dk2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66" name="Google Shape;66;p6"/>
          <p:cNvSpPr txBox="1"/>
          <p:nvPr>
            <p:ph idx="10" type="dt"/>
          </p:nvPr>
        </p:nvSpPr>
        <p:spPr>
          <a:xfrm>
            <a:off x="838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67" name="Google Shape;67;p6"/>
          <p:cNvSpPr txBox="1"/>
          <p:nvPr>
            <p:ph idx="11" type="ftr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68" name="Google Shape;68;p6"/>
          <p:cNvSpPr txBox="1"/>
          <p:nvPr>
            <p:ph idx="12" type="sldNum"/>
          </p:nvPr>
        </p:nvSpPr>
        <p:spPr>
          <a:xfrm>
            <a:off x="8077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7"/>
          <p:cNvSpPr txBox="1"/>
          <p:nvPr>
            <p:ph type="title"/>
          </p:nvPr>
        </p:nvSpPr>
        <p:spPr>
          <a:xfrm>
            <a:off x="838200" y="365125"/>
            <a:ext cx="10515599" cy="1325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Questrial"/>
              <a:buNone/>
              <a:defRPr b="0" i="0" sz="4400" u="none" cap="none" strike="noStrike">
                <a:solidFill>
                  <a:schemeClr val="dk2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1" name="Google Shape;71;p7"/>
          <p:cNvSpPr txBox="1"/>
          <p:nvPr>
            <p:ph idx="10" type="dt"/>
          </p:nvPr>
        </p:nvSpPr>
        <p:spPr>
          <a:xfrm>
            <a:off x="838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72" name="Google Shape;72;p7"/>
          <p:cNvSpPr txBox="1"/>
          <p:nvPr>
            <p:ph idx="11" type="ftr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73" name="Google Shape;73;p7"/>
          <p:cNvSpPr txBox="1"/>
          <p:nvPr>
            <p:ph idx="12" type="sldNum"/>
          </p:nvPr>
        </p:nvSpPr>
        <p:spPr>
          <a:xfrm>
            <a:off x="8077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8"/>
          <p:cNvSpPr txBox="1"/>
          <p:nvPr>
            <p:ph idx="10" type="dt"/>
          </p:nvPr>
        </p:nvSpPr>
        <p:spPr>
          <a:xfrm>
            <a:off x="838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76" name="Google Shape;76;p8"/>
          <p:cNvSpPr txBox="1"/>
          <p:nvPr>
            <p:ph idx="11" type="ftr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77" name="Google Shape;77;p8"/>
          <p:cNvSpPr txBox="1"/>
          <p:nvPr>
            <p:ph idx="12" type="sldNum"/>
          </p:nvPr>
        </p:nvSpPr>
        <p:spPr>
          <a:xfrm>
            <a:off x="8077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9"/>
          <p:cNvSpPr txBox="1"/>
          <p:nvPr>
            <p:ph idx="1" type="body"/>
          </p:nvPr>
        </p:nvSpPr>
        <p:spPr>
          <a:xfrm>
            <a:off x="5183187" y="987425"/>
            <a:ext cx="6172199" cy="487362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31800" lvl="0" marL="457200" marR="0" rtl="0" algn="l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Char char="▪"/>
              <a:defRPr b="0" i="0" sz="32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406400" lvl="1" marL="914400" marR="0" rtl="0" algn="l">
              <a:lnSpc>
                <a:spcPct val="9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▪"/>
              <a:defRPr b="0" i="0" sz="2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381000" lvl="2" marL="13716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355600" lvl="3" marL="18288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355600" lvl="4" marL="22860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355600" lvl="5" marL="27432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355600" lvl="6" marL="3200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355600" lvl="7" marL="3657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355600" lvl="8" marL="41148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80" name="Google Shape;80;p9"/>
          <p:cNvSpPr txBox="1"/>
          <p:nvPr>
            <p:ph idx="2" type="body"/>
          </p:nvPr>
        </p:nvSpPr>
        <p:spPr>
          <a:xfrm>
            <a:off x="839787" y="2101850"/>
            <a:ext cx="3932237" cy="375919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2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Symbols"/>
              <a:buNone/>
              <a:defRPr b="0" i="0" sz="1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Noto Sans Symbols"/>
              <a:buNone/>
              <a:defRPr b="0" i="0" sz="12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Noto Sans Symbols"/>
              <a:buNone/>
              <a:defRPr b="0" i="0" sz="1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Noto Sans Symbols"/>
              <a:buNone/>
              <a:defRPr b="0" i="0" sz="1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Noto Sans Symbols"/>
              <a:buNone/>
              <a:defRPr b="0" i="0" sz="1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Noto Sans Symbols"/>
              <a:buNone/>
              <a:defRPr b="0" i="0" sz="1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Noto Sans Symbols"/>
              <a:buNone/>
              <a:defRPr b="0" i="0" sz="1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Noto Sans Symbols"/>
              <a:buNone/>
              <a:defRPr b="0" i="0" sz="1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81" name="Google Shape;81;p9"/>
          <p:cNvSpPr txBox="1"/>
          <p:nvPr>
            <p:ph type="title"/>
          </p:nvPr>
        </p:nvSpPr>
        <p:spPr>
          <a:xfrm>
            <a:off x="839787" y="457200"/>
            <a:ext cx="3932237" cy="1600199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Questrial"/>
              <a:buNone/>
              <a:defRPr b="0" i="0" sz="3200" u="none" cap="none" strike="noStrike">
                <a:solidFill>
                  <a:schemeClr val="dk2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82" name="Google Shape;82;p9"/>
          <p:cNvSpPr txBox="1"/>
          <p:nvPr>
            <p:ph idx="10" type="dt"/>
          </p:nvPr>
        </p:nvSpPr>
        <p:spPr>
          <a:xfrm>
            <a:off x="838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83" name="Google Shape;83;p9"/>
          <p:cNvSpPr txBox="1"/>
          <p:nvPr>
            <p:ph idx="11" type="ftr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84" name="Google Shape;84;p9"/>
          <p:cNvSpPr txBox="1"/>
          <p:nvPr>
            <p:ph idx="12" type="sldNum"/>
          </p:nvPr>
        </p:nvSpPr>
        <p:spPr>
          <a:xfrm>
            <a:off x="8077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0"/>
          <p:cNvSpPr/>
          <p:nvPr>
            <p:ph idx="2" type="pic"/>
          </p:nvPr>
        </p:nvSpPr>
        <p:spPr>
          <a:xfrm>
            <a:off x="5183187" y="987425"/>
            <a:ext cx="6172199" cy="487362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b="0" i="0" sz="32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9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87" name="Google Shape;87;p10"/>
          <p:cNvSpPr txBox="1"/>
          <p:nvPr>
            <p:ph idx="1" type="body"/>
          </p:nvPr>
        </p:nvSpPr>
        <p:spPr>
          <a:xfrm>
            <a:off x="839787" y="2101850"/>
            <a:ext cx="3932237" cy="375919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0" sz="16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2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Symbols"/>
              <a:buNone/>
              <a:defRPr b="0" i="0" sz="1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Noto Sans Symbols"/>
              <a:buNone/>
              <a:defRPr b="0" i="0" sz="12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Noto Sans Symbols"/>
              <a:buNone/>
              <a:defRPr b="0" i="0" sz="1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Noto Sans Symbols"/>
              <a:buNone/>
              <a:defRPr b="0" i="0" sz="1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Noto Sans Symbols"/>
              <a:buNone/>
              <a:defRPr b="0" i="0" sz="1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Noto Sans Symbols"/>
              <a:buNone/>
              <a:defRPr b="0" i="0" sz="1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Noto Sans Symbols"/>
              <a:buNone/>
              <a:defRPr b="0" i="0" sz="1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Noto Sans Symbols"/>
              <a:buNone/>
              <a:defRPr b="0" i="0" sz="1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88" name="Google Shape;88;p10"/>
          <p:cNvSpPr txBox="1"/>
          <p:nvPr>
            <p:ph type="title"/>
          </p:nvPr>
        </p:nvSpPr>
        <p:spPr>
          <a:xfrm>
            <a:off x="839787" y="457200"/>
            <a:ext cx="3932237" cy="1600199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Questrial"/>
              <a:buNone/>
              <a:defRPr b="0" i="0" sz="3200" u="none" cap="none" strike="noStrike">
                <a:solidFill>
                  <a:schemeClr val="dk2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89" name="Google Shape;89;p10"/>
          <p:cNvSpPr txBox="1"/>
          <p:nvPr>
            <p:ph idx="10" type="dt"/>
          </p:nvPr>
        </p:nvSpPr>
        <p:spPr>
          <a:xfrm>
            <a:off x="838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90" name="Google Shape;90;p10"/>
          <p:cNvSpPr txBox="1"/>
          <p:nvPr>
            <p:ph idx="11" type="ftr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91" name="Google Shape;91;p10"/>
          <p:cNvSpPr txBox="1"/>
          <p:nvPr>
            <p:ph idx="12" type="sldNum"/>
          </p:nvPr>
        </p:nvSpPr>
        <p:spPr>
          <a:xfrm>
            <a:off x="8077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1"/>
          <p:cNvSpPr txBox="1"/>
          <p:nvPr>
            <p:ph idx="1" type="body"/>
          </p:nvPr>
        </p:nvSpPr>
        <p:spPr>
          <a:xfrm rot="5400000">
            <a:off x="3920331" y="-1256505"/>
            <a:ext cx="4351338" cy="1051559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▪"/>
              <a:defRPr b="0" i="0" sz="2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94" name="Google Shape;94;p11"/>
          <p:cNvSpPr txBox="1"/>
          <p:nvPr>
            <p:ph type="title"/>
          </p:nvPr>
        </p:nvSpPr>
        <p:spPr>
          <a:xfrm>
            <a:off x="838200" y="365125"/>
            <a:ext cx="10515599" cy="1325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Questrial"/>
              <a:buNone/>
              <a:defRPr b="0" i="0" sz="4400" u="none" cap="none" strike="noStrike">
                <a:solidFill>
                  <a:schemeClr val="dk2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95" name="Google Shape;95;p11"/>
          <p:cNvSpPr txBox="1"/>
          <p:nvPr>
            <p:ph idx="10" type="dt"/>
          </p:nvPr>
        </p:nvSpPr>
        <p:spPr>
          <a:xfrm>
            <a:off x="838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12" type="sldNum"/>
          </p:nvPr>
        </p:nvSpPr>
        <p:spPr>
          <a:xfrm>
            <a:off x="8077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2"/>
          <p:cNvSpPr txBox="1"/>
          <p:nvPr>
            <p:ph idx="1" type="body"/>
          </p:nvPr>
        </p:nvSpPr>
        <p:spPr>
          <a:xfrm rot="5400000">
            <a:off x="1799431" y="-596105"/>
            <a:ext cx="5811838" cy="773429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▪"/>
              <a:defRPr b="0" i="0" sz="2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100" name="Google Shape;100;p12"/>
          <p:cNvSpPr txBox="1"/>
          <p:nvPr>
            <p:ph type="title"/>
          </p:nvPr>
        </p:nvSpPr>
        <p:spPr>
          <a:xfrm rot="5400000">
            <a:off x="7133431" y="1956594"/>
            <a:ext cx="5811838" cy="262889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Questrial"/>
              <a:buNone/>
              <a:defRPr b="0" i="0" sz="4400" u="none" cap="none" strike="noStrike">
                <a:solidFill>
                  <a:schemeClr val="dk2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01" name="Google Shape;101;p12"/>
          <p:cNvSpPr txBox="1"/>
          <p:nvPr>
            <p:ph idx="10" type="dt"/>
          </p:nvPr>
        </p:nvSpPr>
        <p:spPr>
          <a:xfrm>
            <a:off x="838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102" name="Google Shape;102;p12"/>
          <p:cNvSpPr txBox="1"/>
          <p:nvPr>
            <p:ph idx="11" type="ftr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103" name="Google Shape;103;p12"/>
          <p:cNvSpPr txBox="1"/>
          <p:nvPr>
            <p:ph idx="12" type="sldNum"/>
          </p:nvPr>
        </p:nvSpPr>
        <p:spPr>
          <a:xfrm>
            <a:off x="8077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FFFFFF"/>
            </a:gs>
            <a:gs pos="35000">
              <a:srgbClr val="FFFFFF"/>
            </a:gs>
            <a:gs pos="100000">
              <a:schemeClr val="accent4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"/>
          <p:cNvGrpSpPr/>
          <p:nvPr/>
        </p:nvGrpSpPr>
        <p:grpSpPr>
          <a:xfrm>
            <a:off x="0" y="-6"/>
            <a:ext cx="12188951" cy="6858005"/>
            <a:chOff x="-2728" y="-5"/>
            <a:chExt cx="12188951" cy="6858005"/>
          </a:xfrm>
        </p:grpSpPr>
        <p:sp>
          <p:nvSpPr>
            <p:cNvPr id="11" name="Google Shape;11;p1"/>
            <p:cNvSpPr/>
            <p:nvPr/>
          </p:nvSpPr>
          <p:spPr>
            <a:xfrm>
              <a:off x="-2728" y="0"/>
              <a:ext cx="12188951" cy="6858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Questrial"/>
                <a:ea typeface="Questrial"/>
                <a:cs typeface="Questrial"/>
                <a:sym typeface="Questrial"/>
              </a:endParaRPr>
            </a:p>
          </p:txBody>
        </p:sp>
        <p:grpSp>
          <p:nvGrpSpPr>
            <p:cNvPr id="12" name="Google Shape;12;p1"/>
            <p:cNvGrpSpPr/>
            <p:nvPr/>
          </p:nvGrpSpPr>
          <p:grpSpPr>
            <a:xfrm>
              <a:off x="-2726" y="-5"/>
              <a:ext cx="716422" cy="6858000"/>
              <a:chOff x="-2726" y="-5"/>
              <a:chExt cx="716422" cy="6858000"/>
            </a:xfrm>
          </p:grpSpPr>
          <p:grpSp>
            <p:nvGrpSpPr>
              <p:cNvPr id="13" name="Google Shape;13;p1"/>
              <p:cNvGrpSpPr/>
              <p:nvPr/>
            </p:nvGrpSpPr>
            <p:grpSpPr>
              <a:xfrm>
                <a:off x="-2726" y="2007890"/>
                <a:ext cx="571473" cy="4380548"/>
                <a:chOff x="6048439" y="1740714"/>
                <a:chExt cx="196717" cy="5840727"/>
              </a:xfrm>
            </p:grpSpPr>
            <p:sp>
              <p:nvSpPr>
                <p:cNvPr descr="Gold bar" id="14" name="Google Shape;14;p1"/>
                <p:cNvSpPr/>
                <p:nvPr/>
              </p:nvSpPr>
              <p:spPr>
                <a:xfrm flipH="1" rot="10800000">
                  <a:off x="6048439" y="5661442"/>
                  <a:ext cx="196717" cy="1919999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400"/>
                    <a:buFont typeface="Arial"/>
                    <a:buNone/>
                  </a:pPr>
                  <a:r>
                    <a:t/>
                  </a:r>
                  <a:endParaRPr b="0" i="0" sz="2400" u="none" cap="none" strike="noStrik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endParaRPr>
                </a:p>
              </p:txBody>
            </p:sp>
            <p:sp>
              <p:nvSpPr>
                <p:cNvPr descr="Orange bar" id="15" name="Google Shape;15;p1"/>
                <p:cNvSpPr/>
                <p:nvPr/>
              </p:nvSpPr>
              <p:spPr>
                <a:xfrm flipH="1" rot="10800000">
                  <a:off x="6048439" y="3700382"/>
                  <a:ext cx="196717" cy="1919999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400"/>
                    <a:buFont typeface="Arial"/>
                    <a:buNone/>
                  </a:pPr>
                  <a:r>
                    <a:t/>
                  </a:r>
                  <a:endParaRPr b="0" i="0" sz="2400" u="none" cap="none" strike="noStrik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endParaRPr>
                </a:p>
              </p:txBody>
            </p:sp>
            <p:sp>
              <p:nvSpPr>
                <p:cNvPr descr="Slate bar" id="16" name="Google Shape;16;p1"/>
                <p:cNvSpPr/>
                <p:nvPr/>
              </p:nvSpPr>
              <p:spPr>
                <a:xfrm flipH="1" rot="10800000">
                  <a:off x="6048439" y="1740714"/>
                  <a:ext cx="196717" cy="1919999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400"/>
                    <a:buFont typeface="Arial"/>
                    <a:buNone/>
                  </a:pPr>
                  <a:r>
                    <a:t/>
                  </a:r>
                  <a:endParaRPr b="0" i="0" sz="2400" u="none" cap="none" strike="noStrik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endParaRPr>
                </a:p>
              </p:txBody>
            </p:sp>
          </p:grpSp>
          <p:grpSp>
            <p:nvGrpSpPr>
              <p:cNvPr id="17" name="Google Shape;17;p1"/>
              <p:cNvGrpSpPr/>
              <p:nvPr/>
            </p:nvGrpSpPr>
            <p:grpSpPr>
              <a:xfrm>
                <a:off x="566004" y="-4"/>
                <a:ext cx="147692" cy="6857999"/>
                <a:chOff x="6048439" y="-936480"/>
                <a:chExt cx="196717" cy="9143999"/>
              </a:xfrm>
            </p:grpSpPr>
            <p:sp>
              <p:nvSpPr>
                <p:cNvPr descr="Gold bar" id="18" name="Google Shape;18;p1"/>
                <p:cNvSpPr/>
                <p:nvPr/>
              </p:nvSpPr>
              <p:spPr>
                <a:xfrm flipH="1" rot="10800000">
                  <a:off x="6048439" y="5159057"/>
                  <a:ext cx="196717" cy="3048462"/>
                </a:xfrm>
                <a:prstGeom prst="rect">
                  <a:avLst/>
                </a:prstGeom>
                <a:gradFill>
                  <a:gsLst>
                    <a:gs pos="0">
                      <a:srgbClr val="C4E0B2"/>
                    </a:gs>
                    <a:gs pos="100000">
                      <a:srgbClr val="FFFFFF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400"/>
                    <a:buFont typeface="Arial"/>
                    <a:buNone/>
                  </a:pPr>
                  <a:r>
                    <a:t/>
                  </a:r>
                  <a:endParaRPr b="0" i="0" sz="2400" u="none" cap="none" strike="noStrik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endParaRPr>
                </a:p>
              </p:txBody>
            </p:sp>
            <p:sp>
              <p:nvSpPr>
                <p:cNvPr descr="Orange bar" id="19" name="Google Shape;19;p1"/>
                <p:cNvSpPr/>
                <p:nvPr/>
              </p:nvSpPr>
              <p:spPr>
                <a:xfrm flipH="1" rot="10800000">
                  <a:off x="6048439" y="2110594"/>
                  <a:ext cx="196717" cy="3048462"/>
                </a:xfrm>
                <a:prstGeom prst="rect">
                  <a:avLst/>
                </a:prstGeom>
                <a:gradFill>
                  <a:gsLst>
                    <a:gs pos="0">
                      <a:srgbClr val="FEE599"/>
                    </a:gs>
                    <a:gs pos="100000">
                      <a:srgbClr val="FFFFFF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400"/>
                    <a:buFont typeface="Arial"/>
                    <a:buNone/>
                  </a:pPr>
                  <a:r>
                    <a:t/>
                  </a:r>
                  <a:endParaRPr b="0" i="0" sz="2400" u="none" cap="none" strike="noStrik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endParaRPr>
                </a:p>
              </p:txBody>
            </p:sp>
            <p:sp>
              <p:nvSpPr>
                <p:cNvPr descr="Slate bar" id="20" name="Google Shape;20;p1"/>
                <p:cNvSpPr/>
                <p:nvPr/>
              </p:nvSpPr>
              <p:spPr>
                <a:xfrm flipH="1" rot="10800000">
                  <a:off x="6048439" y="-936480"/>
                  <a:ext cx="196717" cy="3048462"/>
                </a:xfrm>
                <a:prstGeom prst="rect">
                  <a:avLst/>
                </a:prstGeom>
                <a:gradFill>
                  <a:gsLst>
                    <a:gs pos="0">
                      <a:srgbClr val="9CC2E5"/>
                    </a:gs>
                    <a:gs pos="100000">
                      <a:schemeClr val="lt1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400"/>
                    <a:buFont typeface="Arial"/>
                    <a:buNone/>
                  </a:pPr>
                  <a:r>
                    <a:t/>
                  </a:r>
                  <a:endParaRPr b="0" i="0" sz="2400" u="none" cap="none" strike="noStrik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endParaRPr>
                </a:p>
              </p:txBody>
            </p:sp>
          </p:grpSp>
          <p:sp>
            <p:nvSpPr>
              <p:cNvPr id="21" name="Google Shape;21;p1"/>
              <p:cNvSpPr/>
              <p:nvPr/>
            </p:nvSpPr>
            <p:spPr>
              <a:xfrm>
                <a:off x="646781" y="-5"/>
                <a:ext cx="45718" cy="68580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Questrial"/>
                  <a:ea typeface="Questrial"/>
                  <a:cs typeface="Questrial"/>
                  <a:sym typeface="Questrial"/>
                </a:endParaRPr>
              </a:p>
            </p:txBody>
          </p:sp>
        </p:grpSp>
      </p:grpSp>
      <p:sp>
        <p:nvSpPr>
          <p:cNvPr id="22" name="Google Shape;22;p1"/>
          <p:cNvSpPr txBox="1"/>
          <p:nvPr>
            <p:ph idx="10" type="dt"/>
          </p:nvPr>
        </p:nvSpPr>
        <p:spPr>
          <a:xfrm>
            <a:off x="838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23" name="Google Shape;23;p1"/>
          <p:cNvSpPr txBox="1"/>
          <p:nvPr>
            <p:ph idx="11" type="ftr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estrial"/>
              <a:buNone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24" name="Google Shape;24;p1"/>
          <p:cNvSpPr txBox="1"/>
          <p:nvPr>
            <p:ph idx="12" type="sldNum"/>
          </p:nvPr>
        </p:nvSpPr>
        <p:spPr>
          <a:xfrm>
            <a:off x="8077200" y="6356350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"/>
              <a:buFont typeface="Questrial"/>
              <a:buNone/>
              <a:defRPr b="0" i="0" sz="1200" u="none" cap="none" strike="noStrike">
                <a:solidFill>
                  <a:schemeClr val="accent3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" name="Google Shape;25;p1"/>
          <p:cNvSpPr txBox="1"/>
          <p:nvPr>
            <p:ph idx="1" type="body"/>
          </p:nvPr>
        </p:nvSpPr>
        <p:spPr>
          <a:xfrm>
            <a:off x="838200" y="1825625"/>
            <a:ext cx="10515599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▪"/>
              <a:defRPr b="0" i="0" sz="2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4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/>
        </p:txBody>
      </p:sp>
      <p:sp>
        <p:nvSpPr>
          <p:cNvPr id="26" name="Google Shape;26;p1"/>
          <p:cNvSpPr txBox="1"/>
          <p:nvPr>
            <p:ph type="title"/>
          </p:nvPr>
        </p:nvSpPr>
        <p:spPr>
          <a:xfrm>
            <a:off x="838200" y="365125"/>
            <a:ext cx="10515599" cy="1325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Questrial"/>
              <a:buNone/>
              <a:defRPr b="0" i="0" sz="4400" u="none" cap="none" strike="noStrike">
                <a:solidFill>
                  <a:schemeClr val="dk2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descr="Slate bar" id="27" name="Google Shape;27;p1"/>
          <p:cNvSpPr/>
          <p:nvPr/>
        </p:nvSpPr>
        <p:spPr>
          <a:xfrm flipH="1" rot="10800000">
            <a:off x="-8240" y="541541"/>
            <a:ext cx="571473" cy="143999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FFFFFF"/>
            </a:gs>
            <a:gs pos="81000">
              <a:srgbClr val="FFFFFF"/>
            </a:gs>
            <a:gs pos="85000">
              <a:srgbClr val="FFFFFF"/>
            </a:gs>
            <a:gs pos="100000">
              <a:schemeClr val="accent4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3"/>
          <p:cNvSpPr txBox="1"/>
          <p:nvPr>
            <p:ph idx="1" type="subTitle"/>
          </p:nvPr>
        </p:nvSpPr>
        <p:spPr>
          <a:xfrm>
            <a:off x="1524000" y="4056125"/>
            <a:ext cx="9144000" cy="21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600"/>
              <a:buFont typeface="Noto Sans Symbols"/>
              <a:buNone/>
            </a:pPr>
            <a:r>
              <a:rPr b="1" lang="en-US"/>
              <a:t>Cauã Marinho · João Ferraz</a:t>
            </a:r>
            <a:endParaRPr b="1"/>
          </a:p>
          <a:p>
            <a:pPr indent="0" lvl="0" marL="0" marR="0" rtl="0" algn="ctr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accent2"/>
              </a:buClr>
              <a:buSzPts val="600"/>
              <a:buFont typeface="Noto Sans Symbols"/>
              <a:buNone/>
            </a:pPr>
            <a:r>
              <a:rPr b="1" lang="en-US"/>
              <a:t>Guilherme Loiola · Davi Araújo</a:t>
            </a:r>
            <a:endParaRPr b="1"/>
          </a:p>
          <a:p>
            <a:pPr indent="0" lvl="0" marL="0" marR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accent2"/>
              </a:buClr>
              <a:buSzPts val="600"/>
              <a:buFont typeface="Noto Sans Symbols"/>
              <a:buNone/>
            </a:pPr>
            <a:r>
              <a:rPr lang="en-US" sz="1400"/>
              <a:t>Engenharia de Software I · Prof. Dr. Eduardo Almeida · Outubro de 2026</a:t>
            </a:r>
            <a:endParaRPr sz="1400"/>
          </a:p>
        </p:txBody>
      </p:sp>
      <p:sp>
        <p:nvSpPr>
          <p:cNvPr id="110" name="Google Shape;110;p13"/>
          <p:cNvSpPr txBox="1"/>
          <p:nvPr>
            <p:ph type="ctrTitle"/>
          </p:nvPr>
        </p:nvSpPr>
        <p:spPr>
          <a:xfrm>
            <a:off x="504450" y="818250"/>
            <a:ext cx="11613300" cy="2670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CC0202"/>
              </a:buClr>
              <a:buFont typeface="Questrial"/>
              <a:buNone/>
            </a:pPr>
            <a:r>
              <a:rPr b="1" lang="en-US" sz="5400">
                <a:solidFill>
                  <a:srgbClr val="262626"/>
                </a:solidFill>
              </a:rPr>
              <a:t>Veridit</a:t>
            </a:r>
            <a:endParaRPr b="1" sz="5400">
              <a:solidFill>
                <a:srgbClr val="262626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CC0202"/>
              </a:buClr>
              <a:buFont typeface="Questrial"/>
              <a:buNone/>
            </a:pPr>
            <a:r>
              <a:rPr lang="en-US" sz="2800">
                <a:solidFill>
                  <a:srgbClr val="262626"/>
                </a:solidFill>
              </a:rPr>
              <a:t>Engenharia de Software · Trabalho II</a:t>
            </a:r>
            <a:endParaRPr sz="2800">
              <a:solidFill>
                <a:srgbClr val="262626"/>
              </a:solidFill>
            </a:endParaRPr>
          </a:p>
        </p:txBody>
      </p:sp>
      <p:pic>
        <p:nvPicPr>
          <p:cNvPr id="111" name="Google Shape;111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9375" y="4524125"/>
            <a:ext cx="1867099" cy="2333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6875" y="4524125"/>
            <a:ext cx="1867099" cy="23338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19" name="Google Shape;119;p14"/>
          <p:cNvSpPr txBox="1"/>
          <p:nvPr/>
        </p:nvSpPr>
        <p:spPr>
          <a:xfrm>
            <a:off x="698325" y="1164000"/>
            <a:ext cx="11366100" cy="55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76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2400"/>
              <a:buFont typeface="Roboto"/>
              <a:buChar char="●"/>
            </a:pPr>
            <a:r>
              <a:rPr lang="en-US" sz="24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O que o Veridit faz e protótipo de telas</a:t>
            </a:r>
            <a:endParaRPr sz="24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81000" lvl="0" marL="457200" marR="76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2400"/>
              <a:buFont typeface="Roboto"/>
              <a:buChar char="●"/>
            </a:pPr>
            <a:r>
              <a:rPr lang="en-US" sz="24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Características e top 4</a:t>
            </a:r>
            <a:endParaRPr sz="24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81000" lvl="0" marL="457200" marR="76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2400"/>
              <a:buFont typeface="Roboto"/>
              <a:buChar char="●"/>
            </a:pPr>
            <a:r>
              <a:rPr lang="en-US" sz="24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Estilo arquitetural e serviços</a:t>
            </a:r>
            <a:endParaRPr sz="24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81000" lvl="0" marL="457200" marR="76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2400"/>
              <a:buFont typeface="Roboto"/>
              <a:buChar char="●"/>
            </a:pPr>
            <a:r>
              <a:rPr lang="en-US" sz="24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Componentes e componentes críticos</a:t>
            </a:r>
            <a:endParaRPr sz="24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81000" lvl="0" marL="457200" marR="76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2400"/>
              <a:buFont typeface="Roboto"/>
              <a:buChar char="●"/>
            </a:pPr>
            <a:r>
              <a:rPr lang="en-US" sz="24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Módulos e táticas</a:t>
            </a:r>
            <a:endParaRPr sz="24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81000" lvl="0" marL="457200" marR="76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2400"/>
              <a:buFont typeface="Roboto"/>
              <a:buChar char="●"/>
            </a:pPr>
            <a:r>
              <a:rPr lang="en-US" sz="24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Decisões arquiteturais (ADRs)</a:t>
            </a:r>
            <a:endParaRPr sz="24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457200" marR="76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" name="Google Shape;120;p14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Agenda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5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O que o Veridit faz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" name="Google Shape;128;p15"/>
          <p:cNvSpPr/>
          <p:nvPr/>
        </p:nvSpPr>
        <p:spPr>
          <a:xfrm>
            <a:off x="777240" y="1417320"/>
            <a:ext cx="2560200" cy="34290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29" name="Google Shape;129;p15"/>
          <p:cNvSpPr/>
          <p:nvPr/>
        </p:nvSpPr>
        <p:spPr>
          <a:xfrm>
            <a:off x="1005840" y="1645920"/>
            <a:ext cx="548700" cy="548700"/>
          </a:xfrm>
          <a:prstGeom prst="ellipse">
            <a:avLst/>
          </a:prstGeom>
          <a:solidFill>
            <a:srgbClr val="5A9A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1" sz="18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960120" y="233172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Comprar créditos</a:t>
            </a:r>
            <a:endParaRPr b="1" sz="18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960120" y="3108960"/>
            <a:ext cx="21945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Pacotes básico, médio e premium; pagamento pelo Mercado Pago ou Pix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960120" y="438912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REQ05–REQ07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" name="Google Shape;133;p15"/>
          <p:cNvSpPr/>
          <p:nvPr/>
        </p:nvSpPr>
        <p:spPr>
          <a:xfrm>
            <a:off x="3581430" y="1417320"/>
            <a:ext cx="2560200" cy="34290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34" name="Google Shape;134;p15"/>
          <p:cNvSpPr/>
          <p:nvPr/>
        </p:nvSpPr>
        <p:spPr>
          <a:xfrm>
            <a:off x="3810030" y="1645920"/>
            <a:ext cx="548700" cy="548700"/>
          </a:xfrm>
          <a:prstGeom prst="ellipse">
            <a:avLst/>
          </a:prstGeom>
          <a:solidFill>
            <a:srgbClr val="5A9A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1" sz="18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" name="Google Shape;135;p15"/>
          <p:cNvSpPr txBox="1"/>
          <p:nvPr/>
        </p:nvSpPr>
        <p:spPr>
          <a:xfrm>
            <a:off x="3764310" y="233172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Capturar conteúdo</a:t>
            </a:r>
            <a:endParaRPr b="1" sz="18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3764310" y="3108960"/>
            <a:ext cx="21945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Tela ou vídeo da navegação em um site informado pelo usuário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" name="Google Shape;137;p15"/>
          <p:cNvSpPr txBox="1"/>
          <p:nvPr/>
        </p:nvSpPr>
        <p:spPr>
          <a:xfrm>
            <a:off x="3764310" y="438912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REQ08–REQ11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" name="Google Shape;138;p15"/>
          <p:cNvSpPr/>
          <p:nvPr/>
        </p:nvSpPr>
        <p:spPr>
          <a:xfrm>
            <a:off x="6385621" y="1417320"/>
            <a:ext cx="2560200" cy="34290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39" name="Google Shape;139;p15"/>
          <p:cNvSpPr/>
          <p:nvPr/>
        </p:nvSpPr>
        <p:spPr>
          <a:xfrm>
            <a:off x="6614221" y="1645920"/>
            <a:ext cx="548700" cy="548700"/>
          </a:xfrm>
          <a:prstGeom prst="ellipse">
            <a:avLst/>
          </a:prstGeom>
          <a:solidFill>
            <a:srgbClr val="5A9A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1" sz="18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6568501" y="233172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Selar a evidência</a:t>
            </a:r>
            <a:endParaRPr b="1" sz="18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" name="Google Shape;141;p15"/>
          <p:cNvSpPr txBox="1"/>
          <p:nvPr/>
        </p:nvSpPr>
        <p:spPr>
          <a:xfrm>
            <a:off x="6568501" y="3108960"/>
            <a:ext cx="21945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Provar que nada foi alterado e quando foi capturado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" name="Google Shape;142;p15"/>
          <p:cNvSpPr txBox="1"/>
          <p:nvPr/>
        </p:nvSpPr>
        <p:spPr>
          <a:xfrm>
            <a:off x="6568501" y="438912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Implícito (D1)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15"/>
          <p:cNvSpPr/>
          <p:nvPr/>
        </p:nvSpPr>
        <p:spPr>
          <a:xfrm>
            <a:off x="9189811" y="1417320"/>
            <a:ext cx="2560200" cy="34290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44" name="Google Shape;144;p15"/>
          <p:cNvSpPr/>
          <p:nvPr/>
        </p:nvSpPr>
        <p:spPr>
          <a:xfrm>
            <a:off x="9418411" y="1645920"/>
            <a:ext cx="548700" cy="548700"/>
          </a:xfrm>
          <a:prstGeom prst="ellipse">
            <a:avLst/>
          </a:prstGeom>
          <a:solidFill>
            <a:srgbClr val="5A9A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b="1" sz="18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" name="Google Shape;145;p15"/>
          <p:cNvSpPr txBox="1"/>
          <p:nvPr/>
        </p:nvSpPr>
        <p:spPr>
          <a:xfrm>
            <a:off x="9372691" y="233172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Relatório e .zip</a:t>
            </a:r>
            <a:endParaRPr b="1" sz="18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" name="Google Shape;146;p15"/>
          <p:cNvSpPr txBox="1"/>
          <p:nvPr/>
        </p:nvSpPr>
        <p:spPr>
          <a:xfrm>
            <a:off x="9372691" y="3108960"/>
            <a:ext cx="21945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Listar, detalhar e baixar o que foi registrado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15"/>
          <p:cNvSpPr txBox="1"/>
          <p:nvPr/>
        </p:nvSpPr>
        <p:spPr>
          <a:xfrm>
            <a:off x="9372691" y="438912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REQ12–REQ15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15"/>
          <p:cNvSpPr txBox="1"/>
          <p:nvPr/>
        </p:nvSpPr>
        <p:spPr>
          <a:xfrm>
            <a:off x="777240" y="507492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Por que importa: advogados estão entre os usuários (D1), então o registro tende a virar prova. A única característica explícita nos requisitos é Segurança; as demais vêm do domínio.</a:t>
            </a:r>
            <a:endParaRPr sz="18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55" name="Google Shape;155;p16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Protótipo de telas: conta e créditos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6" name="Google Shape;15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2665" y="1143000"/>
            <a:ext cx="3214688" cy="2286001"/>
          </a:xfrm>
          <a:prstGeom prst="rect">
            <a:avLst/>
          </a:prstGeom>
          <a:noFill/>
          <a:ln cap="flat" cmpd="sng" w="12700">
            <a:solidFill>
              <a:srgbClr val="DADCE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7" name="Google Shape;157;p16"/>
          <p:cNvSpPr txBox="1"/>
          <p:nvPr/>
        </p:nvSpPr>
        <p:spPr>
          <a:xfrm>
            <a:off x="1212494" y="3474720"/>
            <a:ext cx="321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Entrar</a:t>
            </a:r>
            <a:r>
              <a:rPr lang="en-US" sz="13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  ·  REQ03</a:t>
            </a:r>
            <a:endParaRPr sz="13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8" name="Google Shape;158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56296" y="1143000"/>
            <a:ext cx="3214688" cy="2286001"/>
          </a:xfrm>
          <a:prstGeom prst="rect">
            <a:avLst/>
          </a:prstGeom>
          <a:noFill/>
          <a:ln cap="flat" cmpd="sng" w="12700">
            <a:solidFill>
              <a:srgbClr val="DADCE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9" name="Google Shape;159;p16"/>
          <p:cNvSpPr txBox="1"/>
          <p:nvPr/>
        </p:nvSpPr>
        <p:spPr>
          <a:xfrm>
            <a:off x="4656125" y="3474720"/>
            <a:ext cx="321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Criar conta</a:t>
            </a:r>
            <a:r>
              <a:rPr lang="en-US" sz="13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  ·  REQ01</a:t>
            </a:r>
            <a:endParaRPr sz="13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0" name="Google Shape;160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99926" y="1143000"/>
            <a:ext cx="3214688" cy="2286001"/>
          </a:xfrm>
          <a:prstGeom prst="rect">
            <a:avLst/>
          </a:prstGeom>
          <a:noFill/>
          <a:ln cap="flat" cmpd="sng" w="12700">
            <a:solidFill>
              <a:srgbClr val="DADCE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1" name="Google Shape;161;p16"/>
          <p:cNvSpPr txBox="1"/>
          <p:nvPr/>
        </p:nvSpPr>
        <p:spPr>
          <a:xfrm>
            <a:off x="8099755" y="3474720"/>
            <a:ext cx="321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Meus registros</a:t>
            </a:r>
            <a:r>
              <a:rPr lang="en-US" sz="13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  ·  REQ12</a:t>
            </a:r>
            <a:endParaRPr sz="13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2" name="Google Shape;162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12665" y="3886200"/>
            <a:ext cx="3214688" cy="2286001"/>
          </a:xfrm>
          <a:prstGeom prst="rect">
            <a:avLst/>
          </a:prstGeom>
          <a:noFill/>
          <a:ln cap="flat" cmpd="sng" w="12700">
            <a:solidFill>
              <a:srgbClr val="DADCE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3" name="Google Shape;163;p16"/>
          <p:cNvSpPr txBox="1"/>
          <p:nvPr/>
        </p:nvSpPr>
        <p:spPr>
          <a:xfrm>
            <a:off x="1212494" y="6217920"/>
            <a:ext cx="321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Comprar créditos</a:t>
            </a:r>
            <a:r>
              <a:rPr lang="en-US" sz="13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  ·  REQ05</a:t>
            </a:r>
            <a:endParaRPr sz="13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4" name="Google Shape;164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6296" y="3886200"/>
            <a:ext cx="3214688" cy="2286001"/>
          </a:xfrm>
          <a:prstGeom prst="rect">
            <a:avLst/>
          </a:prstGeom>
          <a:noFill/>
          <a:ln cap="flat" cmpd="sng" w="12700">
            <a:solidFill>
              <a:srgbClr val="DADCE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5" name="Google Shape;165;p16"/>
          <p:cNvSpPr txBox="1"/>
          <p:nvPr/>
        </p:nvSpPr>
        <p:spPr>
          <a:xfrm>
            <a:off x="4656125" y="6217920"/>
            <a:ext cx="321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Pagamento por Pix</a:t>
            </a:r>
            <a:r>
              <a:rPr lang="en-US" sz="13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  ·  REQ06</a:t>
            </a:r>
            <a:endParaRPr sz="13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6" name="Google Shape;166;p1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99926" y="3886200"/>
            <a:ext cx="3214688" cy="2286001"/>
          </a:xfrm>
          <a:prstGeom prst="rect">
            <a:avLst/>
          </a:prstGeom>
          <a:noFill/>
          <a:ln cap="flat" cmpd="sng" w="12700">
            <a:solidFill>
              <a:srgbClr val="DADCE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7" name="Google Shape;167;p16"/>
          <p:cNvSpPr txBox="1"/>
          <p:nvPr/>
        </p:nvSpPr>
        <p:spPr>
          <a:xfrm>
            <a:off x="8099755" y="6217920"/>
            <a:ext cx="321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Pagamento confirmado</a:t>
            </a:r>
            <a:r>
              <a:rPr lang="en-US" sz="13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  ·  REQ07</a:t>
            </a:r>
            <a:endParaRPr sz="13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7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74" name="Google Shape;174;p17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Protótipo de telas: registro e evidência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5" name="Google Shape;17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2665" y="1143000"/>
            <a:ext cx="3214688" cy="2286001"/>
          </a:xfrm>
          <a:prstGeom prst="rect">
            <a:avLst/>
          </a:prstGeom>
          <a:noFill/>
          <a:ln cap="flat" cmpd="sng" w="12700">
            <a:solidFill>
              <a:srgbClr val="DADCE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6" name="Google Shape;176;p17"/>
          <p:cNvSpPr txBox="1"/>
          <p:nvPr/>
        </p:nvSpPr>
        <p:spPr>
          <a:xfrm>
            <a:off x="1212494" y="3474720"/>
            <a:ext cx="321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Novo registro</a:t>
            </a:r>
            <a:r>
              <a:rPr lang="en-US" sz="13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  ·  REQ08</a:t>
            </a:r>
            <a:endParaRPr sz="13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7" name="Google Shape;177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56296" y="1143000"/>
            <a:ext cx="3214688" cy="2286001"/>
          </a:xfrm>
          <a:prstGeom prst="rect">
            <a:avLst/>
          </a:prstGeom>
          <a:noFill/>
          <a:ln cap="flat" cmpd="sng" w="12700">
            <a:solidFill>
              <a:srgbClr val="DADCE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8" name="Google Shape;178;p17"/>
          <p:cNvSpPr txBox="1"/>
          <p:nvPr/>
        </p:nvSpPr>
        <p:spPr>
          <a:xfrm>
            <a:off x="4656125" y="3474720"/>
            <a:ext cx="321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Sessão de captura</a:t>
            </a:r>
            <a:r>
              <a:rPr lang="en-US" sz="13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  ·  REQ09–REQ11</a:t>
            </a:r>
            <a:endParaRPr sz="13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9" name="Google Shape;179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99926" y="1143000"/>
            <a:ext cx="3214688" cy="2286001"/>
          </a:xfrm>
          <a:prstGeom prst="rect">
            <a:avLst/>
          </a:prstGeom>
          <a:noFill/>
          <a:ln cap="flat" cmpd="sng" w="12700">
            <a:solidFill>
              <a:srgbClr val="DADCE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80" name="Google Shape;180;p17"/>
          <p:cNvSpPr txBox="1"/>
          <p:nvPr/>
        </p:nvSpPr>
        <p:spPr>
          <a:xfrm>
            <a:off x="8099755" y="3474720"/>
            <a:ext cx="321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Selando a evidência</a:t>
            </a:r>
            <a:r>
              <a:rPr lang="en-US" sz="13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  ·  REQ10</a:t>
            </a:r>
            <a:endParaRPr sz="13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1" name="Google Shape;181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12665" y="3886200"/>
            <a:ext cx="3214688" cy="2286001"/>
          </a:xfrm>
          <a:prstGeom prst="rect">
            <a:avLst/>
          </a:prstGeom>
          <a:noFill/>
          <a:ln cap="flat" cmpd="sng" w="12700">
            <a:solidFill>
              <a:srgbClr val="DADCE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82" name="Google Shape;182;p17"/>
          <p:cNvSpPr txBox="1"/>
          <p:nvPr/>
        </p:nvSpPr>
        <p:spPr>
          <a:xfrm>
            <a:off x="1212494" y="6217920"/>
            <a:ext cx="321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Detalhes do registro</a:t>
            </a:r>
            <a:r>
              <a:rPr lang="en-US" sz="13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  ·  REQ13–REQ15</a:t>
            </a:r>
            <a:endParaRPr sz="13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3" name="Google Shape;183;p1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6296" y="3886200"/>
            <a:ext cx="3214688" cy="2286001"/>
          </a:xfrm>
          <a:prstGeom prst="rect">
            <a:avLst/>
          </a:prstGeom>
          <a:noFill/>
          <a:ln cap="flat" cmpd="sng" w="12700">
            <a:solidFill>
              <a:srgbClr val="DADCE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84" name="Google Shape;184;p17"/>
          <p:cNvSpPr txBox="1"/>
          <p:nvPr/>
        </p:nvSpPr>
        <p:spPr>
          <a:xfrm>
            <a:off x="4656125" y="6217920"/>
            <a:ext cx="321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Relatório em PDF</a:t>
            </a:r>
            <a:r>
              <a:rPr lang="en-US" sz="13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  ·  REQ14</a:t>
            </a:r>
            <a:endParaRPr sz="13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17"/>
          <p:cNvSpPr/>
          <p:nvPr/>
        </p:nvSpPr>
        <p:spPr>
          <a:xfrm>
            <a:off x="8099755" y="3886200"/>
            <a:ext cx="3215100" cy="2651700"/>
          </a:xfrm>
          <a:prstGeom prst="roundRect">
            <a:avLst>
              <a:gd fmla="val 16667" name="adj"/>
            </a:avLst>
          </a:prstGeom>
          <a:solidFill>
            <a:srgbClr val="DCE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86" name="Google Shape;186;p17"/>
          <p:cNvSpPr txBox="1"/>
          <p:nvPr/>
        </p:nvSpPr>
        <p:spPr>
          <a:xfrm>
            <a:off x="8282635" y="4069080"/>
            <a:ext cx="2849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14 telas no protótipo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17"/>
          <p:cNvSpPr txBox="1"/>
          <p:nvPr/>
        </p:nvSpPr>
        <p:spPr>
          <a:xfrm>
            <a:off x="8282635" y="4526280"/>
            <a:ext cx="28494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Também há recuperação de senha, nova senha e dados de faturamento.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Cada tela indica os requisitos que atende.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-US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Arquivo completo: veridit-telas.pdf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8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94" name="Google Shape;194;p18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12 características arquiteturais identificadas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777240" y="1325880"/>
            <a:ext cx="2560200" cy="1326000"/>
          </a:xfrm>
          <a:prstGeom prst="roundRect">
            <a:avLst>
              <a:gd fmla="val 16667" name="adj"/>
            </a:avLst>
          </a:prstGeom>
          <a:solidFill>
            <a:srgbClr val="DCE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96" name="Google Shape;196;p18"/>
          <p:cNvSpPr txBox="1"/>
          <p:nvPr/>
        </p:nvSpPr>
        <p:spPr>
          <a:xfrm>
            <a:off x="960120" y="1435608"/>
            <a:ext cx="21945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Segurança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" name="Google Shape;197;p18"/>
          <p:cNvSpPr txBox="1"/>
          <p:nvPr/>
        </p:nvSpPr>
        <p:spPr>
          <a:xfrm>
            <a:off x="960120" y="219456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Transversal · explícita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8" name="Google Shape;198;p18"/>
          <p:cNvSpPr/>
          <p:nvPr/>
        </p:nvSpPr>
        <p:spPr>
          <a:xfrm>
            <a:off x="3581430" y="1325880"/>
            <a:ext cx="2560200" cy="1326000"/>
          </a:xfrm>
          <a:prstGeom prst="roundRect">
            <a:avLst>
              <a:gd fmla="val 16667" name="adj"/>
            </a:avLst>
          </a:prstGeom>
          <a:solidFill>
            <a:srgbClr val="DCE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199" name="Google Shape;199;p18"/>
          <p:cNvSpPr txBox="1"/>
          <p:nvPr/>
        </p:nvSpPr>
        <p:spPr>
          <a:xfrm>
            <a:off x="3764310" y="1435608"/>
            <a:ext cx="21945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Integridade das evidências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" name="Google Shape;200;p18"/>
          <p:cNvSpPr txBox="1"/>
          <p:nvPr/>
        </p:nvSpPr>
        <p:spPr>
          <a:xfrm>
            <a:off x="3764310" y="219456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Transversal · implícita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18"/>
          <p:cNvSpPr/>
          <p:nvPr/>
        </p:nvSpPr>
        <p:spPr>
          <a:xfrm>
            <a:off x="6385621" y="1325880"/>
            <a:ext cx="2560200" cy="1326000"/>
          </a:xfrm>
          <a:prstGeom prst="roundRect">
            <a:avLst>
              <a:gd fmla="val 16667" name="adj"/>
            </a:avLst>
          </a:prstGeom>
          <a:solidFill>
            <a:srgbClr val="DCE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02" name="Google Shape;202;p18"/>
          <p:cNvSpPr txBox="1"/>
          <p:nvPr/>
        </p:nvSpPr>
        <p:spPr>
          <a:xfrm>
            <a:off x="6568501" y="1435608"/>
            <a:ext cx="21945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Confiabilidade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3" name="Google Shape;203;p18"/>
          <p:cNvSpPr txBox="1"/>
          <p:nvPr/>
        </p:nvSpPr>
        <p:spPr>
          <a:xfrm>
            <a:off x="6568501" y="219456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Operacional · implícita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9189811" y="1325880"/>
            <a:ext cx="2560200" cy="1326000"/>
          </a:xfrm>
          <a:prstGeom prst="roundRect">
            <a:avLst>
              <a:gd fmla="val 16667" name="adj"/>
            </a:avLst>
          </a:prstGeom>
          <a:solidFill>
            <a:srgbClr val="DCE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05" name="Google Shape;205;p18"/>
          <p:cNvSpPr txBox="1"/>
          <p:nvPr/>
        </p:nvSpPr>
        <p:spPr>
          <a:xfrm>
            <a:off x="9372691" y="1435608"/>
            <a:ext cx="21945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Escalabilidade / elasticidade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8"/>
          <p:cNvSpPr txBox="1"/>
          <p:nvPr/>
        </p:nvSpPr>
        <p:spPr>
          <a:xfrm>
            <a:off x="9372691" y="219456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Operacional · implícita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777240" y="2788920"/>
            <a:ext cx="2560200" cy="13260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08" name="Google Shape;208;p18"/>
          <p:cNvSpPr txBox="1"/>
          <p:nvPr/>
        </p:nvSpPr>
        <p:spPr>
          <a:xfrm>
            <a:off x="960120" y="2898648"/>
            <a:ext cx="21945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Disponibilidade</a:t>
            </a:r>
            <a:endParaRPr b="1" sz="18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18"/>
          <p:cNvSpPr txBox="1"/>
          <p:nvPr/>
        </p:nvSpPr>
        <p:spPr>
          <a:xfrm>
            <a:off x="960120" y="365760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Operacional · implícita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" name="Google Shape;210;p18"/>
          <p:cNvSpPr/>
          <p:nvPr/>
        </p:nvSpPr>
        <p:spPr>
          <a:xfrm>
            <a:off x="3581430" y="2788920"/>
            <a:ext cx="2560200" cy="13260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11" name="Google Shape;211;p18"/>
          <p:cNvSpPr txBox="1"/>
          <p:nvPr/>
        </p:nvSpPr>
        <p:spPr>
          <a:xfrm>
            <a:off x="3764310" y="2898648"/>
            <a:ext cx="21945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Desempenho</a:t>
            </a:r>
            <a:endParaRPr b="1" sz="18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18"/>
          <p:cNvSpPr txBox="1"/>
          <p:nvPr/>
        </p:nvSpPr>
        <p:spPr>
          <a:xfrm>
            <a:off x="3764310" y="365760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Operacional · implícita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3" name="Google Shape;213;p18"/>
          <p:cNvSpPr/>
          <p:nvPr/>
        </p:nvSpPr>
        <p:spPr>
          <a:xfrm>
            <a:off x="6385621" y="2788920"/>
            <a:ext cx="2560200" cy="13260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14" name="Google Shape;214;p18"/>
          <p:cNvSpPr txBox="1"/>
          <p:nvPr/>
        </p:nvSpPr>
        <p:spPr>
          <a:xfrm>
            <a:off x="6568501" y="2898648"/>
            <a:ext cx="21945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Recuperabilidade</a:t>
            </a:r>
            <a:endParaRPr b="1" sz="18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18"/>
          <p:cNvSpPr txBox="1"/>
          <p:nvPr/>
        </p:nvSpPr>
        <p:spPr>
          <a:xfrm>
            <a:off x="6568501" y="365760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Operacional · implícita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" name="Google Shape;216;p18"/>
          <p:cNvSpPr/>
          <p:nvPr/>
        </p:nvSpPr>
        <p:spPr>
          <a:xfrm>
            <a:off x="9189811" y="2788920"/>
            <a:ext cx="2560200" cy="13260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17" name="Google Shape;217;p18"/>
          <p:cNvSpPr txBox="1"/>
          <p:nvPr/>
        </p:nvSpPr>
        <p:spPr>
          <a:xfrm>
            <a:off x="9372691" y="2898648"/>
            <a:ext cx="21945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Auditabilidade</a:t>
            </a:r>
            <a:endParaRPr b="1" sz="18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18"/>
          <p:cNvSpPr txBox="1"/>
          <p:nvPr/>
        </p:nvSpPr>
        <p:spPr>
          <a:xfrm>
            <a:off x="9372691" y="365760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Transversal · implícita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18"/>
          <p:cNvSpPr/>
          <p:nvPr/>
        </p:nvSpPr>
        <p:spPr>
          <a:xfrm>
            <a:off x="777240" y="4251960"/>
            <a:ext cx="2560200" cy="13260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20" name="Google Shape;220;p18"/>
          <p:cNvSpPr txBox="1"/>
          <p:nvPr/>
        </p:nvSpPr>
        <p:spPr>
          <a:xfrm>
            <a:off x="960120" y="4361688"/>
            <a:ext cx="21945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Privacidade (LGPD)</a:t>
            </a:r>
            <a:endParaRPr b="1" sz="18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18"/>
          <p:cNvSpPr txBox="1"/>
          <p:nvPr/>
        </p:nvSpPr>
        <p:spPr>
          <a:xfrm>
            <a:off x="960120" y="512064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Transversal · implícita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18"/>
          <p:cNvSpPr/>
          <p:nvPr/>
        </p:nvSpPr>
        <p:spPr>
          <a:xfrm>
            <a:off x="3581430" y="4251960"/>
            <a:ext cx="2560200" cy="13260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23" name="Google Shape;223;p18"/>
          <p:cNvSpPr txBox="1"/>
          <p:nvPr/>
        </p:nvSpPr>
        <p:spPr>
          <a:xfrm>
            <a:off x="3764310" y="4361688"/>
            <a:ext cx="21945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Extensibilidade</a:t>
            </a:r>
            <a:endParaRPr b="1" sz="18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18"/>
          <p:cNvSpPr txBox="1"/>
          <p:nvPr/>
        </p:nvSpPr>
        <p:spPr>
          <a:xfrm>
            <a:off x="3764310" y="512064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Estrutural · implícita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18"/>
          <p:cNvSpPr/>
          <p:nvPr/>
        </p:nvSpPr>
        <p:spPr>
          <a:xfrm>
            <a:off x="6385621" y="4251960"/>
            <a:ext cx="2560200" cy="13260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26" name="Google Shape;226;p18"/>
          <p:cNvSpPr txBox="1"/>
          <p:nvPr/>
        </p:nvSpPr>
        <p:spPr>
          <a:xfrm>
            <a:off x="6568501" y="4361688"/>
            <a:ext cx="21945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Interoperabilidade</a:t>
            </a:r>
            <a:endParaRPr b="1" sz="18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7" name="Google Shape;227;p18"/>
          <p:cNvSpPr txBox="1"/>
          <p:nvPr/>
        </p:nvSpPr>
        <p:spPr>
          <a:xfrm>
            <a:off x="6568501" y="512064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Estrutural · implícita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8" name="Google Shape;228;p18"/>
          <p:cNvSpPr/>
          <p:nvPr/>
        </p:nvSpPr>
        <p:spPr>
          <a:xfrm>
            <a:off x="9189811" y="4251960"/>
            <a:ext cx="2560200" cy="13260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29" name="Google Shape;229;p18"/>
          <p:cNvSpPr txBox="1"/>
          <p:nvPr/>
        </p:nvSpPr>
        <p:spPr>
          <a:xfrm>
            <a:off x="9372691" y="4361688"/>
            <a:ext cx="21945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Manutenibilidade</a:t>
            </a:r>
            <a:endParaRPr b="1" sz="18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0" name="Google Shape;230;p18"/>
          <p:cNvSpPr txBox="1"/>
          <p:nvPr/>
        </p:nvSpPr>
        <p:spPr>
          <a:xfrm>
            <a:off x="9372691" y="512064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Estrutural · implícita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1" name="Google Shape;231;p18"/>
          <p:cNvSpPr txBox="1"/>
          <p:nvPr/>
        </p:nvSpPr>
        <p:spPr>
          <a:xfrm>
            <a:off x="777240" y="5760720"/>
            <a:ext cx="109728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Fontes (Richards &amp; Ford): requisitos explícitos, requisitos funcionais que implicam características e conhecimento do domínio. Só as 4 em azul direcionam a estrutura; as demais viram táticas.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9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38" name="Google Shape;238;p19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Top 4 características (ADR-0001)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9" name="Google Shape;239;p19"/>
          <p:cNvSpPr/>
          <p:nvPr/>
        </p:nvSpPr>
        <p:spPr>
          <a:xfrm>
            <a:off x="777240" y="1371600"/>
            <a:ext cx="2560200" cy="40692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40" name="Google Shape;240;p19"/>
          <p:cNvSpPr/>
          <p:nvPr/>
        </p:nvSpPr>
        <p:spPr>
          <a:xfrm>
            <a:off x="1005840" y="1600200"/>
            <a:ext cx="548700" cy="548700"/>
          </a:xfrm>
          <a:prstGeom prst="ellipse">
            <a:avLst/>
          </a:prstGeom>
          <a:solidFill>
            <a:srgbClr val="FE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1" sz="18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19"/>
          <p:cNvSpPr txBox="1"/>
          <p:nvPr/>
        </p:nvSpPr>
        <p:spPr>
          <a:xfrm>
            <a:off x="960120" y="2240280"/>
            <a:ext cx="21945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Segurança</a:t>
            </a:r>
            <a:endParaRPr b="1" sz="2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2" name="Google Shape;242;p19"/>
          <p:cNvSpPr txBox="1"/>
          <p:nvPr/>
        </p:nvSpPr>
        <p:spPr>
          <a:xfrm>
            <a:off x="960120" y="2743200"/>
            <a:ext cx="21945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Único atributo explícito; CPF, OAB e pagamento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960120" y="379476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Cenário mensurável</a:t>
            </a:r>
            <a:endParaRPr b="1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4" name="Google Shape;244;p19"/>
          <p:cNvSpPr txBox="1"/>
          <p:nvPr/>
        </p:nvSpPr>
        <p:spPr>
          <a:xfrm>
            <a:off x="960120" y="4160520"/>
            <a:ext cx="21945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100% dos endpoints privados rejeitam requisição sem token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p19"/>
          <p:cNvSpPr/>
          <p:nvPr/>
        </p:nvSpPr>
        <p:spPr>
          <a:xfrm>
            <a:off x="3581430" y="1371600"/>
            <a:ext cx="2560200" cy="40692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46" name="Google Shape;246;p19"/>
          <p:cNvSpPr/>
          <p:nvPr/>
        </p:nvSpPr>
        <p:spPr>
          <a:xfrm>
            <a:off x="3810030" y="1600200"/>
            <a:ext cx="548700" cy="548700"/>
          </a:xfrm>
          <a:prstGeom prst="ellipse">
            <a:avLst/>
          </a:prstGeom>
          <a:solidFill>
            <a:srgbClr val="5A9A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1" sz="18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7" name="Google Shape;247;p19"/>
          <p:cNvSpPr txBox="1"/>
          <p:nvPr/>
        </p:nvSpPr>
        <p:spPr>
          <a:xfrm>
            <a:off x="3764310" y="2240280"/>
            <a:ext cx="21945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Integridade</a:t>
            </a:r>
            <a:endParaRPr b="1" sz="2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19"/>
          <p:cNvSpPr txBox="1"/>
          <p:nvPr/>
        </p:nvSpPr>
        <p:spPr>
          <a:xfrm>
            <a:off x="3764310" y="2743200"/>
            <a:ext cx="21945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Sem ela a evidência não serve como prova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3764310" y="379476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Cenário mensurável</a:t>
            </a:r>
            <a:endParaRPr b="1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19"/>
          <p:cNvSpPr txBox="1"/>
          <p:nvPr/>
        </p:nvSpPr>
        <p:spPr>
          <a:xfrm>
            <a:off x="3764310" y="4160520"/>
            <a:ext cx="21945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Alterar 1 byte do pacote é detectado na verificação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1" name="Google Shape;251;p19"/>
          <p:cNvSpPr/>
          <p:nvPr/>
        </p:nvSpPr>
        <p:spPr>
          <a:xfrm>
            <a:off x="6385621" y="1371600"/>
            <a:ext cx="2560200" cy="40692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52" name="Google Shape;252;p19"/>
          <p:cNvSpPr/>
          <p:nvPr/>
        </p:nvSpPr>
        <p:spPr>
          <a:xfrm>
            <a:off x="6614221" y="1600200"/>
            <a:ext cx="548700" cy="548700"/>
          </a:xfrm>
          <a:prstGeom prst="ellipse">
            <a:avLst/>
          </a:prstGeom>
          <a:solidFill>
            <a:srgbClr val="FFC50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1" sz="18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3" name="Google Shape;253;p19"/>
          <p:cNvSpPr txBox="1"/>
          <p:nvPr/>
        </p:nvSpPr>
        <p:spPr>
          <a:xfrm>
            <a:off x="6568501" y="2240280"/>
            <a:ext cx="21945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Confiabilidade</a:t>
            </a:r>
            <a:endParaRPr b="1" sz="2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19"/>
          <p:cNvSpPr txBox="1"/>
          <p:nvPr/>
        </p:nvSpPr>
        <p:spPr>
          <a:xfrm>
            <a:off x="6568501" y="2743200"/>
            <a:ext cx="21945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Modelo pré-pago: dinheiro e créditos do usuário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5" name="Google Shape;255;p19"/>
          <p:cNvSpPr txBox="1"/>
          <p:nvPr/>
        </p:nvSpPr>
        <p:spPr>
          <a:xfrm>
            <a:off x="6568501" y="3794760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Cenário mensurável</a:t>
            </a:r>
            <a:endParaRPr b="1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19"/>
          <p:cNvSpPr txBox="1"/>
          <p:nvPr/>
        </p:nvSpPr>
        <p:spPr>
          <a:xfrm>
            <a:off x="6568501" y="4160520"/>
            <a:ext cx="21945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0 créditos perdidos ou duplicados, mesmo com falhas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19"/>
          <p:cNvSpPr/>
          <p:nvPr/>
        </p:nvSpPr>
        <p:spPr>
          <a:xfrm>
            <a:off x="9189811" y="1371600"/>
            <a:ext cx="2560200" cy="40692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58" name="Google Shape;258;p19"/>
          <p:cNvSpPr/>
          <p:nvPr/>
        </p:nvSpPr>
        <p:spPr>
          <a:xfrm>
            <a:off x="9418411" y="1600200"/>
            <a:ext cx="548700" cy="548700"/>
          </a:xfrm>
          <a:prstGeom prst="ellipse">
            <a:avLst/>
          </a:prstGeom>
          <a:solidFill>
            <a:srgbClr val="70AC4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b="1" sz="18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9" name="Google Shape;259;p19"/>
          <p:cNvSpPr txBox="1"/>
          <p:nvPr/>
        </p:nvSpPr>
        <p:spPr>
          <a:xfrm>
            <a:off x="9372700" y="2240273"/>
            <a:ext cx="21945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Escalabilidade</a:t>
            </a:r>
            <a:endParaRPr b="1" sz="2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19"/>
          <p:cNvSpPr txBox="1"/>
          <p:nvPr/>
        </p:nvSpPr>
        <p:spPr>
          <a:xfrm>
            <a:off x="9372641" y="2766088"/>
            <a:ext cx="21945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Captura é pesada, longa e irregular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19"/>
          <p:cNvSpPr txBox="1"/>
          <p:nvPr/>
        </p:nvSpPr>
        <p:spPr>
          <a:xfrm>
            <a:off x="9372641" y="3703373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Cenário mensurável</a:t>
            </a:r>
            <a:endParaRPr b="1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19"/>
          <p:cNvSpPr txBox="1"/>
          <p:nvPr/>
        </p:nvSpPr>
        <p:spPr>
          <a:xfrm>
            <a:off x="9372641" y="4126120"/>
            <a:ext cx="21945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10x sessões só adicionando workers; espera 95% ≤ 30 s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19"/>
          <p:cNvSpPr txBox="1"/>
          <p:nvPr/>
        </p:nvSpPr>
        <p:spPr>
          <a:xfrm>
            <a:off x="777240" y="5623560"/>
            <a:ext cx="109728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Ficaram de fora: disponibilidade (sem SLA), desempenho (depende do site), auditabilidade e privacidade (cobertas por táticas).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0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70" name="Google Shape;270;p20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Estilo: baseado em serviços (ADR-0002)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271" name="Google Shape;271;p20"/>
          <p:cNvGraphicFramePr/>
          <p:nvPr/>
        </p:nvGraphicFramePr>
        <p:xfrm>
          <a:off x="777240" y="1371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{8654D32E-62BC-4376-91E9-5BB6A67E0661}</a:tableStyleId>
              </a:tblPr>
              <a:tblGrid>
                <a:gridCol w="2103100"/>
                <a:gridCol w="1143000"/>
                <a:gridCol w="1417300"/>
                <a:gridCol w="1280150"/>
                <a:gridCol w="1097275"/>
              </a:tblGrid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Característica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Camadas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Baseado em serviços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solidFill>
                      <a:srgbClr val="DCEA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Orientado a eventos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Microsserviços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Escalabilidade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solidFill>
                      <a:srgbClr val="DCEA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Elasticidade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solidFill>
                      <a:srgbClr val="DCEA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Tolerância a falhas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solidFill>
                      <a:srgbClr val="DCEA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Confiabilidade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solidFill>
                      <a:srgbClr val="DCEA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Testabilidade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solidFill>
                      <a:srgbClr val="DCEA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Simplicidade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solidFill>
                      <a:srgbClr val="DCEA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Custo (5 = barato)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solidFill>
                      <a:srgbClr val="DCEA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272" name="Google Shape;272;p20"/>
          <p:cNvSpPr txBox="1"/>
          <p:nvPr/>
        </p:nvSpPr>
        <p:spPr>
          <a:xfrm>
            <a:off x="777240" y="5669280"/>
            <a:ext cx="7041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Notas por estrelas de Richards &amp; Ford (1 a 5). Em azul, o estilo escolhido.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8183880" y="1371600"/>
            <a:ext cx="35661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Equilíbrio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4" name="Google Shape;274;p20"/>
          <p:cNvSpPr txBox="1"/>
          <p:nvPr/>
        </p:nvSpPr>
        <p:spPr>
          <a:xfrm>
            <a:off x="8183880" y="1783080"/>
            <a:ext cx="3566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Boa tolerância a falhas, confiabilidade e testabilidade, com custo e simplicidade viáveis para a equipe.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5" name="Google Shape;275;p20"/>
          <p:cNvSpPr txBox="1"/>
          <p:nvPr/>
        </p:nvSpPr>
        <p:spPr>
          <a:xfrm>
            <a:off x="8183880" y="2880360"/>
            <a:ext cx="35661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Fraqueza tratada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8183880" y="3291840"/>
            <a:ext cx="3566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Elasticidade 2, resolvida isolando a Captura em workers sem estado alimentados por fila (ADR-0009).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7" name="Google Shape;277;p20"/>
          <p:cNvSpPr txBox="1"/>
          <p:nvPr/>
        </p:nvSpPr>
        <p:spPr>
          <a:xfrm>
            <a:off x="8183880" y="4389120"/>
            <a:ext cx="35661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Isolamento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8" name="Google Shape;278;p20"/>
          <p:cNvSpPr txBox="1"/>
          <p:nvPr/>
        </p:nvSpPr>
        <p:spPr>
          <a:xfrm>
            <a:off x="8183880" y="4800600"/>
            <a:ext cx="3566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O navegador que abre sites externos fica longe dos dados pessoais e de pagamento.</a:t>
            </a:r>
            <a:endParaRPr sz="16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1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85" name="Google Shape;285;p21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7 serviços implantados separadamente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6" name="Google Shape;286;p21"/>
          <p:cNvSpPr/>
          <p:nvPr/>
        </p:nvSpPr>
        <p:spPr>
          <a:xfrm>
            <a:off x="777240" y="1325880"/>
            <a:ext cx="2560200" cy="23316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87" name="Google Shape;287;p21"/>
          <p:cNvSpPr txBox="1"/>
          <p:nvPr/>
        </p:nvSpPr>
        <p:spPr>
          <a:xfrm>
            <a:off x="960120" y="1435608"/>
            <a:ext cx="9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S1</a:t>
            </a:r>
            <a:endParaRPr b="1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21"/>
          <p:cNvSpPr txBox="1"/>
          <p:nvPr/>
        </p:nvSpPr>
        <p:spPr>
          <a:xfrm>
            <a:off x="960120" y="173736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Identidade e Acesso</a:t>
            </a:r>
            <a:endParaRPr b="1"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9" name="Google Shape;289;p21"/>
          <p:cNvSpPr txBox="1"/>
          <p:nvPr/>
        </p:nvSpPr>
        <p:spPr>
          <a:xfrm>
            <a:off x="960120" y="2468880"/>
            <a:ext cx="2194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Cadastro, login, logout, recuperação de senha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0" name="Google Shape;290;p21"/>
          <p:cNvSpPr txBox="1"/>
          <p:nvPr/>
        </p:nvSpPr>
        <p:spPr>
          <a:xfrm>
            <a:off x="960120" y="3227832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esquema identidade</a:t>
            </a:r>
            <a:endParaRPr sz="12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1" name="Google Shape;291;p21"/>
          <p:cNvSpPr/>
          <p:nvPr/>
        </p:nvSpPr>
        <p:spPr>
          <a:xfrm>
            <a:off x="3581430" y="1325880"/>
            <a:ext cx="2560200" cy="23316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92" name="Google Shape;292;p21"/>
          <p:cNvSpPr txBox="1"/>
          <p:nvPr/>
        </p:nvSpPr>
        <p:spPr>
          <a:xfrm>
            <a:off x="3764310" y="1435608"/>
            <a:ext cx="9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S2</a:t>
            </a:r>
            <a:endParaRPr b="1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3" name="Google Shape;293;p21"/>
          <p:cNvSpPr txBox="1"/>
          <p:nvPr/>
        </p:nvSpPr>
        <p:spPr>
          <a:xfrm>
            <a:off x="3764310" y="173736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Créditos e Pagamentos</a:t>
            </a:r>
            <a:endParaRPr b="1"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p21"/>
          <p:cNvSpPr txBox="1"/>
          <p:nvPr/>
        </p:nvSpPr>
        <p:spPr>
          <a:xfrm>
            <a:off x="3764310" y="2468880"/>
            <a:ext cx="2194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Pacotes, compra, Mercado Pago / Pix, carteira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5" name="Google Shape;295;p21"/>
          <p:cNvSpPr txBox="1"/>
          <p:nvPr/>
        </p:nvSpPr>
        <p:spPr>
          <a:xfrm>
            <a:off x="3764310" y="3227832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esquema creditos</a:t>
            </a:r>
            <a:endParaRPr sz="12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21"/>
          <p:cNvSpPr/>
          <p:nvPr/>
        </p:nvSpPr>
        <p:spPr>
          <a:xfrm>
            <a:off x="6385621" y="1325880"/>
            <a:ext cx="2560200" cy="23316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297" name="Google Shape;297;p21"/>
          <p:cNvSpPr txBox="1"/>
          <p:nvPr/>
        </p:nvSpPr>
        <p:spPr>
          <a:xfrm>
            <a:off x="6568501" y="1435608"/>
            <a:ext cx="9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S3</a:t>
            </a:r>
            <a:endParaRPr b="1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8" name="Google Shape;298;p21"/>
          <p:cNvSpPr txBox="1"/>
          <p:nvPr/>
        </p:nvSpPr>
        <p:spPr>
          <a:xfrm>
            <a:off x="6568501" y="173736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Registros</a:t>
            </a:r>
            <a:endParaRPr b="1"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21"/>
          <p:cNvSpPr txBox="1"/>
          <p:nvPr/>
        </p:nvSpPr>
        <p:spPr>
          <a:xfrm>
            <a:off x="6568501" y="2468880"/>
            <a:ext cx="2194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Criar, listar e detalhar registros; saga da captura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21"/>
          <p:cNvSpPr txBox="1"/>
          <p:nvPr/>
        </p:nvSpPr>
        <p:spPr>
          <a:xfrm>
            <a:off x="6568501" y="3227832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esquema registros</a:t>
            </a:r>
            <a:endParaRPr sz="12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1" name="Google Shape;301;p21"/>
          <p:cNvSpPr/>
          <p:nvPr/>
        </p:nvSpPr>
        <p:spPr>
          <a:xfrm>
            <a:off x="9189811" y="1325880"/>
            <a:ext cx="2560200" cy="2331600"/>
          </a:xfrm>
          <a:prstGeom prst="roundRect">
            <a:avLst>
              <a:gd fmla="val 16667" name="adj"/>
            </a:avLst>
          </a:prstGeom>
          <a:solidFill>
            <a:srgbClr val="DCE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02" name="Google Shape;302;p21"/>
          <p:cNvSpPr txBox="1"/>
          <p:nvPr/>
        </p:nvSpPr>
        <p:spPr>
          <a:xfrm>
            <a:off x="9372691" y="1435608"/>
            <a:ext cx="9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S4</a:t>
            </a:r>
            <a:endParaRPr b="1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3" name="Google Shape;303;p21"/>
          <p:cNvSpPr txBox="1"/>
          <p:nvPr/>
        </p:nvSpPr>
        <p:spPr>
          <a:xfrm>
            <a:off x="9372691" y="173736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Captura</a:t>
            </a:r>
            <a:endParaRPr b="1"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21"/>
          <p:cNvSpPr txBox="1"/>
          <p:nvPr/>
        </p:nvSpPr>
        <p:spPr>
          <a:xfrm>
            <a:off x="9372691" y="2468880"/>
            <a:ext cx="2194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Navegador remoto isolado; workers elásticos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21"/>
          <p:cNvSpPr txBox="1"/>
          <p:nvPr/>
        </p:nvSpPr>
        <p:spPr>
          <a:xfrm>
            <a:off x="9372691" y="3227832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sem banco · quantum próprio</a:t>
            </a:r>
            <a:endParaRPr sz="12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21"/>
          <p:cNvSpPr/>
          <p:nvPr/>
        </p:nvSpPr>
        <p:spPr>
          <a:xfrm>
            <a:off x="777240" y="3794760"/>
            <a:ext cx="2560200" cy="23316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07" name="Google Shape;307;p21"/>
          <p:cNvSpPr txBox="1"/>
          <p:nvPr/>
        </p:nvSpPr>
        <p:spPr>
          <a:xfrm>
            <a:off x="960120" y="3904488"/>
            <a:ext cx="9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S5</a:t>
            </a:r>
            <a:endParaRPr b="1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Google Shape;308;p21"/>
          <p:cNvSpPr txBox="1"/>
          <p:nvPr/>
        </p:nvSpPr>
        <p:spPr>
          <a:xfrm>
            <a:off x="960120" y="420624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Evidências</a:t>
            </a:r>
            <a:endParaRPr b="1"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9" name="Google Shape;309;p21"/>
          <p:cNvSpPr txBox="1"/>
          <p:nvPr/>
        </p:nvSpPr>
        <p:spPr>
          <a:xfrm>
            <a:off x="960120" y="4937760"/>
            <a:ext cx="2194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Selagem, repositório WORM, relatório e .zip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0" name="Google Shape;310;p21"/>
          <p:cNvSpPr txBox="1"/>
          <p:nvPr/>
        </p:nvSpPr>
        <p:spPr>
          <a:xfrm>
            <a:off x="960120" y="5696712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esquema evidencias</a:t>
            </a:r>
            <a:endParaRPr sz="12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1" name="Google Shape;311;p21"/>
          <p:cNvSpPr/>
          <p:nvPr/>
        </p:nvSpPr>
        <p:spPr>
          <a:xfrm>
            <a:off x="3581430" y="3794760"/>
            <a:ext cx="2560200" cy="23316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12" name="Google Shape;312;p21"/>
          <p:cNvSpPr txBox="1"/>
          <p:nvPr/>
        </p:nvSpPr>
        <p:spPr>
          <a:xfrm>
            <a:off x="3764310" y="3904488"/>
            <a:ext cx="9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S6</a:t>
            </a:r>
            <a:endParaRPr b="1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21"/>
          <p:cNvSpPr txBox="1"/>
          <p:nvPr/>
        </p:nvSpPr>
        <p:spPr>
          <a:xfrm>
            <a:off x="3764310" y="420624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Notificações</a:t>
            </a:r>
            <a:endParaRPr b="1"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21"/>
          <p:cNvSpPr txBox="1"/>
          <p:nvPr/>
        </p:nvSpPr>
        <p:spPr>
          <a:xfrm>
            <a:off x="3764310" y="4937760"/>
            <a:ext cx="2194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E-mails a partir de eventos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21"/>
          <p:cNvSpPr txBox="1"/>
          <p:nvPr/>
        </p:nvSpPr>
        <p:spPr>
          <a:xfrm>
            <a:off x="3764310" y="5696712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sem banco · quantum próprio</a:t>
            </a:r>
            <a:endParaRPr sz="12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21"/>
          <p:cNvSpPr/>
          <p:nvPr/>
        </p:nvSpPr>
        <p:spPr>
          <a:xfrm>
            <a:off x="6385621" y="3794760"/>
            <a:ext cx="2560200" cy="23316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17" name="Google Shape;317;p21"/>
          <p:cNvSpPr txBox="1"/>
          <p:nvPr/>
        </p:nvSpPr>
        <p:spPr>
          <a:xfrm>
            <a:off x="6568501" y="3904488"/>
            <a:ext cx="9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S7</a:t>
            </a:r>
            <a:endParaRPr b="1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21"/>
          <p:cNvSpPr txBox="1"/>
          <p:nvPr/>
        </p:nvSpPr>
        <p:spPr>
          <a:xfrm>
            <a:off x="6568501" y="420624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Auditoria</a:t>
            </a:r>
            <a:endParaRPr b="1"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9" name="Google Shape;319;p21"/>
          <p:cNvSpPr txBox="1"/>
          <p:nvPr/>
        </p:nvSpPr>
        <p:spPr>
          <a:xfrm>
            <a:off x="6568501" y="4937760"/>
            <a:ext cx="2194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Trilha de eventos encadeada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0" name="Google Shape;320;p21"/>
          <p:cNvSpPr txBox="1"/>
          <p:nvPr/>
        </p:nvSpPr>
        <p:spPr>
          <a:xfrm>
            <a:off x="6568501" y="5696712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esquema auditoria</a:t>
            </a:r>
            <a:endParaRPr sz="12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1" name="Google Shape;321;p21"/>
          <p:cNvSpPr/>
          <p:nvPr/>
        </p:nvSpPr>
        <p:spPr>
          <a:xfrm>
            <a:off x="9189811" y="3794760"/>
            <a:ext cx="2560200" cy="23316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22" name="Google Shape;322;p21"/>
          <p:cNvSpPr txBox="1"/>
          <p:nvPr/>
        </p:nvSpPr>
        <p:spPr>
          <a:xfrm>
            <a:off x="9372691" y="420624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Borda e infraestrutura</a:t>
            </a:r>
            <a:endParaRPr b="1"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21"/>
          <p:cNvSpPr txBox="1"/>
          <p:nvPr/>
        </p:nvSpPr>
        <p:spPr>
          <a:xfrm>
            <a:off x="9372691" y="4937760"/>
            <a:ext cx="2194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SPA, API Gateway, broker, PostgreSQL e objetos WORM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4" name="Google Shape;324;p21"/>
          <p:cNvSpPr txBox="1"/>
          <p:nvPr/>
        </p:nvSpPr>
        <p:spPr>
          <a:xfrm>
            <a:off x="9372691" y="5696712"/>
            <a:ext cx="2194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compartilhado</a:t>
            </a:r>
            <a:endParaRPr sz="12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2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31" name="Google Shape;331;p22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18 componentes candidatos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332" name="Google Shape;332;p22"/>
          <p:cNvGraphicFramePr/>
          <p:nvPr/>
        </p:nvGraphicFramePr>
        <p:xfrm>
          <a:off x="777240" y="13258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{8654D32E-62BC-4376-91E9-5BB6A67E0661}</a:tableStyleId>
              </a:tblPr>
              <a:tblGrid>
                <a:gridCol w="2834625"/>
                <a:gridCol w="8138150"/>
              </a:tblGrid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Serviço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Componentes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Borda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C01 Aplicação Web · C02 API Gateway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S1 Identidade e Acesso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C03 Cadastro de Usuários · </a:t>
                      </a:r>
                      <a:r>
                        <a:rPr b="1" lang="en-US" sz="1600">
                          <a:solidFill>
                            <a:srgbClr val="1F5FA8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C04 Autenticação e Sessão</a:t>
                      </a: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· C05 Recuperação de Senha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S2 Créditos e Pagamentos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C06 Catálogo de Pacotes · C07 Compra de Créditos · </a:t>
                      </a:r>
                      <a:r>
                        <a:rPr b="1" lang="en-US" sz="1600">
                          <a:solidFill>
                            <a:srgbClr val="1F5FA8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C08 Processamento de Pagamentos</a:t>
                      </a: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· </a:t>
                      </a:r>
                      <a:r>
                        <a:rPr b="1" lang="en-US" sz="1600">
                          <a:solidFill>
                            <a:srgbClr val="1F5FA8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C09 Carteira de Créditos</a:t>
                      </a:r>
                      <a:endParaRPr b="1" sz="1600">
                        <a:solidFill>
                          <a:srgbClr val="1F5FA8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S3 Registros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C10 Gestão de Registros · </a:t>
                      </a:r>
                      <a:r>
                        <a:rPr b="1" lang="en-US" sz="1600">
                          <a:solidFill>
                            <a:srgbClr val="1F5FA8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C11 Orquestrador de Captura</a:t>
                      </a:r>
                      <a:endParaRPr b="1" sz="1600">
                        <a:solidFill>
                          <a:srgbClr val="1F5FA8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S4 Captura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rgbClr val="1F5FA8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C12 Motor de Captura</a:t>
                      </a:r>
                      <a:endParaRPr b="1" sz="1600">
                        <a:solidFill>
                          <a:srgbClr val="1F5FA8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S5 Evidências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rgbClr val="1F5FA8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C13 Selagem de Evidências</a:t>
                      </a: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· C14 Repositório de Evidências · C15 Gerador de Relatórios · C16 Empacotador ZIP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S6 Notificações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C17 Notificações por E-mail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S7 Auditoria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C18 Trilha de Auditoria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333" name="Google Shape;333;p22"/>
          <p:cNvSpPr txBox="1"/>
          <p:nvPr/>
        </p:nvSpPr>
        <p:spPr>
          <a:xfrm>
            <a:off x="777240" y="5897880"/>
            <a:ext cx="10972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Em azul e negrito: os 6 componentes críticos, especificados internamente.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3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40" name="Google Shape;340;p23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Fluxo principal: onde ficam os 6 críticos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1" name="Google Shape;341;p23"/>
          <p:cNvSpPr txBox="1"/>
          <p:nvPr/>
        </p:nvSpPr>
        <p:spPr>
          <a:xfrm>
            <a:off x="868680" y="1170432"/>
            <a:ext cx="1645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Usuário</a:t>
            </a:r>
            <a:endParaRPr b="1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2" name="Google Shape;342;p23"/>
          <p:cNvSpPr/>
          <p:nvPr/>
        </p:nvSpPr>
        <p:spPr>
          <a:xfrm>
            <a:off x="868680" y="1600200"/>
            <a:ext cx="1463100" cy="822900"/>
          </a:xfrm>
          <a:prstGeom prst="roundRect">
            <a:avLst>
              <a:gd fmla="val 16667" name="adj"/>
            </a:avLst>
          </a:prstGeom>
          <a:solidFill>
            <a:srgbClr val="F1F2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201F24"/>
                </a:solidFill>
                <a:latin typeface="Roboto"/>
                <a:ea typeface="Roboto"/>
                <a:cs typeface="Roboto"/>
                <a:sym typeface="Roboto"/>
              </a:rPr>
              <a:t>C01 Aplicação Web</a:t>
            </a:r>
            <a:endParaRPr>
              <a:solidFill>
                <a:srgbClr val="201F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3" name="Google Shape;343;p23"/>
          <p:cNvSpPr/>
          <p:nvPr/>
        </p:nvSpPr>
        <p:spPr>
          <a:xfrm>
            <a:off x="868680" y="2971800"/>
            <a:ext cx="1463100" cy="822900"/>
          </a:xfrm>
          <a:prstGeom prst="roundRect">
            <a:avLst>
              <a:gd fmla="val 16667" name="adj"/>
            </a:avLst>
          </a:prstGeom>
          <a:solidFill>
            <a:srgbClr val="F1F2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201F24"/>
                </a:solidFill>
                <a:latin typeface="Roboto"/>
                <a:ea typeface="Roboto"/>
                <a:cs typeface="Roboto"/>
                <a:sym typeface="Roboto"/>
              </a:rPr>
              <a:t>C02 API Gateway</a:t>
            </a:r>
            <a:endParaRPr>
              <a:solidFill>
                <a:srgbClr val="201F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4" name="Google Shape;344;p23"/>
          <p:cNvSpPr txBox="1"/>
          <p:nvPr/>
        </p:nvSpPr>
        <p:spPr>
          <a:xfrm>
            <a:off x="3017520" y="1170432"/>
            <a:ext cx="1645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Entrar</a:t>
            </a:r>
            <a:endParaRPr b="1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5" name="Google Shape;345;p23"/>
          <p:cNvSpPr/>
          <p:nvPr/>
        </p:nvSpPr>
        <p:spPr>
          <a:xfrm>
            <a:off x="3017520" y="1600200"/>
            <a:ext cx="1463100" cy="822900"/>
          </a:xfrm>
          <a:prstGeom prst="roundRect">
            <a:avLst>
              <a:gd fmla="val 16667" name="adj"/>
            </a:avLst>
          </a:prstGeom>
          <a:solidFill>
            <a:srgbClr val="DCE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C04 Autenticação e Sessão</a:t>
            </a:r>
            <a:endParaRPr b="1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6" name="Google Shape;346;p23"/>
          <p:cNvSpPr/>
          <p:nvPr/>
        </p:nvSpPr>
        <p:spPr>
          <a:xfrm>
            <a:off x="4777740" y="1600200"/>
            <a:ext cx="1463100" cy="822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6B728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Mercado Pago / Pix (externo)</a:t>
            </a:r>
            <a:endParaRPr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7" name="Google Shape;347;p23"/>
          <p:cNvSpPr txBox="1"/>
          <p:nvPr/>
        </p:nvSpPr>
        <p:spPr>
          <a:xfrm>
            <a:off x="3017520" y="2542032"/>
            <a:ext cx="2743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Comprar créditos</a:t>
            </a:r>
            <a:endParaRPr b="1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8" name="Google Shape;348;p23"/>
          <p:cNvSpPr/>
          <p:nvPr/>
        </p:nvSpPr>
        <p:spPr>
          <a:xfrm>
            <a:off x="3017520" y="2971800"/>
            <a:ext cx="1463100" cy="822900"/>
          </a:xfrm>
          <a:prstGeom prst="roundRect">
            <a:avLst>
              <a:gd fmla="val 16667" name="adj"/>
            </a:avLst>
          </a:prstGeom>
          <a:solidFill>
            <a:srgbClr val="F1F2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201F24"/>
                </a:solidFill>
                <a:latin typeface="Roboto"/>
                <a:ea typeface="Roboto"/>
                <a:cs typeface="Roboto"/>
                <a:sym typeface="Roboto"/>
              </a:rPr>
              <a:t>C07 Compra de Créditos</a:t>
            </a:r>
            <a:endParaRPr>
              <a:solidFill>
                <a:srgbClr val="201F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9" name="Google Shape;349;p23"/>
          <p:cNvSpPr/>
          <p:nvPr/>
        </p:nvSpPr>
        <p:spPr>
          <a:xfrm>
            <a:off x="4777740" y="2971800"/>
            <a:ext cx="1463100" cy="822900"/>
          </a:xfrm>
          <a:prstGeom prst="roundRect">
            <a:avLst>
              <a:gd fmla="val 16667" name="adj"/>
            </a:avLst>
          </a:prstGeom>
          <a:solidFill>
            <a:srgbClr val="DCE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C08 Proc. de Pagamentos</a:t>
            </a:r>
            <a:endParaRPr b="1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0" name="Google Shape;350;p23"/>
          <p:cNvSpPr/>
          <p:nvPr/>
        </p:nvSpPr>
        <p:spPr>
          <a:xfrm>
            <a:off x="6537960" y="2971800"/>
            <a:ext cx="1463100" cy="822900"/>
          </a:xfrm>
          <a:prstGeom prst="roundRect">
            <a:avLst>
              <a:gd fmla="val 16667" name="adj"/>
            </a:avLst>
          </a:prstGeom>
          <a:solidFill>
            <a:srgbClr val="DCE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C09 Carteira de Créditos</a:t>
            </a:r>
            <a:endParaRPr b="1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23"/>
          <p:cNvSpPr txBox="1"/>
          <p:nvPr/>
        </p:nvSpPr>
        <p:spPr>
          <a:xfrm>
            <a:off x="3017520" y="4096512"/>
            <a:ext cx="35661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Registrar e selar uma evidência</a:t>
            </a:r>
            <a:endParaRPr b="1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23"/>
          <p:cNvSpPr/>
          <p:nvPr/>
        </p:nvSpPr>
        <p:spPr>
          <a:xfrm>
            <a:off x="3017520" y="4526280"/>
            <a:ext cx="1463100" cy="822900"/>
          </a:xfrm>
          <a:prstGeom prst="roundRect">
            <a:avLst>
              <a:gd fmla="val 16667" name="adj"/>
            </a:avLst>
          </a:prstGeom>
          <a:solidFill>
            <a:srgbClr val="F1F2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201F24"/>
                </a:solidFill>
                <a:latin typeface="Roboto"/>
                <a:ea typeface="Roboto"/>
                <a:cs typeface="Roboto"/>
                <a:sym typeface="Roboto"/>
              </a:rPr>
              <a:t>C10 Gestão de Registros</a:t>
            </a:r>
            <a:endParaRPr>
              <a:solidFill>
                <a:srgbClr val="201F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23"/>
          <p:cNvSpPr/>
          <p:nvPr/>
        </p:nvSpPr>
        <p:spPr>
          <a:xfrm>
            <a:off x="4777740" y="4526280"/>
            <a:ext cx="1463100" cy="822900"/>
          </a:xfrm>
          <a:prstGeom prst="roundRect">
            <a:avLst>
              <a:gd fmla="val 16667" name="adj"/>
            </a:avLst>
          </a:prstGeom>
          <a:solidFill>
            <a:srgbClr val="DCE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C11 Orquestrador de Captura</a:t>
            </a:r>
            <a:endParaRPr b="1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4" name="Google Shape;354;p23"/>
          <p:cNvSpPr/>
          <p:nvPr/>
        </p:nvSpPr>
        <p:spPr>
          <a:xfrm>
            <a:off x="6537960" y="4526280"/>
            <a:ext cx="1463100" cy="822900"/>
          </a:xfrm>
          <a:prstGeom prst="roundRect">
            <a:avLst>
              <a:gd fmla="val 16667" name="adj"/>
            </a:avLst>
          </a:prstGeom>
          <a:solidFill>
            <a:srgbClr val="DCE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C12 Motor de Captura</a:t>
            </a:r>
            <a:endParaRPr b="1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23"/>
          <p:cNvSpPr/>
          <p:nvPr/>
        </p:nvSpPr>
        <p:spPr>
          <a:xfrm>
            <a:off x="8298180" y="4526280"/>
            <a:ext cx="1463100" cy="822900"/>
          </a:xfrm>
          <a:prstGeom prst="roundRect">
            <a:avLst>
              <a:gd fmla="val 16667" name="adj"/>
            </a:avLst>
          </a:prstGeom>
          <a:solidFill>
            <a:srgbClr val="DCE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C13 Selagem de Evidências</a:t>
            </a:r>
            <a:endParaRPr b="1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23"/>
          <p:cNvSpPr/>
          <p:nvPr/>
        </p:nvSpPr>
        <p:spPr>
          <a:xfrm>
            <a:off x="10058400" y="4526280"/>
            <a:ext cx="1463100" cy="822900"/>
          </a:xfrm>
          <a:prstGeom prst="roundRect">
            <a:avLst>
              <a:gd fmla="val 16667" name="adj"/>
            </a:avLst>
          </a:prstGeom>
          <a:solidFill>
            <a:srgbClr val="F1F2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201F24"/>
                </a:solidFill>
                <a:latin typeface="Roboto"/>
                <a:ea typeface="Roboto"/>
                <a:cs typeface="Roboto"/>
                <a:sym typeface="Roboto"/>
              </a:rPr>
              <a:t>C14 Repositório (WORM)</a:t>
            </a:r>
            <a:endParaRPr>
              <a:solidFill>
                <a:srgbClr val="201F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23"/>
          <p:cNvSpPr txBox="1"/>
          <p:nvPr/>
        </p:nvSpPr>
        <p:spPr>
          <a:xfrm>
            <a:off x="6903720" y="3986784"/>
            <a:ext cx="25602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2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reserva e consome créditos</a:t>
            </a:r>
            <a:endParaRPr i="1" sz="12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8" name="Google Shape;358;p23"/>
          <p:cNvSpPr/>
          <p:nvPr/>
        </p:nvSpPr>
        <p:spPr>
          <a:xfrm>
            <a:off x="868680" y="5715000"/>
            <a:ext cx="292500" cy="201300"/>
          </a:xfrm>
          <a:prstGeom prst="rect">
            <a:avLst/>
          </a:prstGeom>
          <a:solidFill>
            <a:srgbClr val="DCE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59" name="Google Shape;359;p23"/>
          <p:cNvSpPr txBox="1"/>
          <p:nvPr/>
        </p:nvSpPr>
        <p:spPr>
          <a:xfrm>
            <a:off x="1234440" y="5669280"/>
            <a:ext cx="2377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201F24"/>
                </a:solidFill>
                <a:latin typeface="Roboto"/>
                <a:ea typeface="Roboto"/>
                <a:cs typeface="Roboto"/>
                <a:sym typeface="Roboto"/>
              </a:rPr>
              <a:t>Componente crítico</a:t>
            </a:r>
            <a:endParaRPr sz="1200">
              <a:solidFill>
                <a:srgbClr val="201F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0" name="Google Shape;360;p23"/>
          <p:cNvSpPr/>
          <p:nvPr/>
        </p:nvSpPr>
        <p:spPr>
          <a:xfrm>
            <a:off x="3566160" y="5715000"/>
            <a:ext cx="292500" cy="201300"/>
          </a:xfrm>
          <a:prstGeom prst="rect">
            <a:avLst/>
          </a:prstGeom>
          <a:solidFill>
            <a:srgbClr val="F1F2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61" name="Google Shape;361;p23"/>
          <p:cNvSpPr txBox="1"/>
          <p:nvPr/>
        </p:nvSpPr>
        <p:spPr>
          <a:xfrm>
            <a:off x="3931920" y="5669280"/>
            <a:ext cx="2377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201F24"/>
                </a:solidFill>
                <a:latin typeface="Roboto"/>
                <a:ea typeface="Roboto"/>
                <a:cs typeface="Roboto"/>
                <a:sym typeface="Roboto"/>
              </a:rPr>
              <a:t>Demais componentes</a:t>
            </a:r>
            <a:endParaRPr sz="1200">
              <a:solidFill>
                <a:srgbClr val="201F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2" name="Google Shape;362;p23"/>
          <p:cNvSpPr/>
          <p:nvPr/>
        </p:nvSpPr>
        <p:spPr>
          <a:xfrm>
            <a:off x="6263640" y="5715000"/>
            <a:ext cx="292500" cy="20130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6B728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63" name="Google Shape;363;p23"/>
          <p:cNvSpPr txBox="1"/>
          <p:nvPr/>
        </p:nvSpPr>
        <p:spPr>
          <a:xfrm>
            <a:off x="6629400" y="5669280"/>
            <a:ext cx="2377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201F24"/>
                </a:solidFill>
                <a:latin typeface="Roboto"/>
                <a:ea typeface="Roboto"/>
                <a:cs typeface="Roboto"/>
                <a:sym typeface="Roboto"/>
              </a:rPr>
              <a:t>Sistema externo</a:t>
            </a:r>
            <a:endParaRPr sz="1200">
              <a:solidFill>
                <a:srgbClr val="201F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23"/>
          <p:cNvSpPr txBox="1"/>
          <p:nvPr/>
        </p:nvSpPr>
        <p:spPr>
          <a:xfrm>
            <a:off x="868680" y="6035040"/>
            <a:ext cx="106071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F6368"/>
                </a:solidFill>
                <a:latin typeface="Roboto"/>
                <a:ea typeface="Roboto"/>
                <a:cs typeface="Roboto"/>
                <a:sym typeface="Roboto"/>
              </a:rPr>
              <a:t>Fora do quadro: C03, C05, C06, C15 a C18 e o broker de mensagens. Diagrama completo no slide seguinte.</a:t>
            </a:r>
            <a:endParaRPr sz="1200">
              <a:solidFill>
                <a:srgbClr val="5F63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65" name="Google Shape;365;p23"/>
          <p:cNvCxnSpPr/>
          <p:nvPr/>
        </p:nvCxnSpPr>
        <p:spPr>
          <a:xfrm>
            <a:off x="1600200" y="2423160"/>
            <a:ext cx="0" cy="548700"/>
          </a:xfrm>
          <a:prstGeom prst="straightConnector1">
            <a:avLst/>
          </a:prstGeom>
          <a:noFill/>
          <a:ln cap="flat" cmpd="sng" w="19050">
            <a:solidFill>
              <a:srgbClr val="6B728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66" name="Google Shape;366;p23"/>
          <p:cNvCxnSpPr/>
          <p:nvPr/>
        </p:nvCxnSpPr>
        <p:spPr>
          <a:xfrm flipH="1" rot="10800000">
            <a:off x="2331720" y="2011620"/>
            <a:ext cx="685800" cy="1234500"/>
          </a:xfrm>
          <a:prstGeom prst="straightConnector1">
            <a:avLst/>
          </a:prstGeom>
          <a:noFill/>
          <a:ln cap="flat" cmpd="sng" w="19050">
            <a:solidFill>
              <a:srgbClr val="6B728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67" name="Google Shape;367;p23"/>
          <p:cNvCxnSpPr/>
          <p:nvPr/>
        </p:nvCxnSpPr>
        <p:spPr>
          <a:xfrm>
            <a:off x="2331720" y="3383280"/>
            <a:ext cx="685800" cy="0"/>
          </a:xfrm>
          <a:prstGeom prst="straightConnector1">
            <a:avLst/>
          </a:prstGeom>
          <a:noFill/>
          <a:ln cap="flat" cmpd="sng" w="19050">
            <a:solidFill>
              <a:srgbClr val="6B728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68" name="Google Shape;368;p23"/>
          <p:cNvCxnSpPr/>
          <p:nvPr/>
        </p:nvCxnSpPr>
        <p:spPr>
          <a:xfrm>
            <a:off x="2331720" y="3520440"/>
            <a:ext cx="685800" cy="1417200"/>
          </a:xfrm>
          <a:prstGeom prst="straightConnector1">
            <a:avLst/>
          </a:prstGeom>
          <a:noFill/>
          <a:ln cap="flat" cmpd="sng" w="19050">
            <a:solidFill>
              <a:srgbClr val="6B728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69" name="Google Shape;369;p23"/>
          <p:cNvCxnSpPr/>
          <p:nvPr/>
        </p:nvCxnSpPr>
        <p:spPr>
          <a:xfrm>
            <a:off x="4480560" y="3383280"/>
            <a:ext cx="297300" cy="0"/>
          </a:xfrm>
          <a:prstGeom prst="straightConnector1">
            <a:avLst/>
          </a:prstGeom>
          <a:noFill/>
          <a:ln cap="flat" cmpd="sng" w="19050">
            <a:solidFill>
              <a:srgbClr val="6B728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70" name="Google Shape;370;p23"/>
          <p:cNvCxnSpPr/>
          <p:nvPr/>
        </p:nvCxnSpPr>
        <p:spPr>
          <a:xfrm>
            <a:off x="6240779" y="3383280"/>
            <a:ext cx="297300" cy="0"/>
          </a:xfrm>
          <a:prstGeom prst="straightConnector1">
            <a:avLst/>
          </a:prstGeom>
          <a:noFill/>
          <a:ln cap="flat" cmpd="sng" w="19050">
            <a:solidFill>
              <a:srgbClr val="6B728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71" name="Google Shape;371;p23"/>
          <p:cNvCxnSpPr/>
          <p:nvPr/>
        </p:nvCxnSpPr>
        <p:spPr>
          <a:xfrm rot="10800000">
            <a:off x="5509259" y="2423100"/>
            <a:ext cx="0" cy="548700"/>
          </a:xfrm>
          <a:prstGeom prst="straightConnector1">
            <a:avLst/>
          </a:prstGeom>
          <a:noFill/>
          <a:ln cap="flat" cmpd="sng" w="19050">
            <a:solidFill>
              <a:srgbClr val="6B7280"/>
            </a:solidFill>
            <a:prstDash val="dash"/>
            <a:round/>
            <a:headEnd len="med" w="med" type="triangle"/>
            <a:tailEnd len="med" w="med" type="triangle"/>
          </a:ln>
        </p:spPr>
      </p:cxnSp>
      <p:cxnSp>
        <p:nvCxnSpPr>
          <p:cNvPr id="372" name="Google Shape;372;p23"/>
          <p:cNvCxnSpPr/>
          <p:nvPr/>
        </p:nvCxnSpPr>
        <p:spPr>
          <a:xfrm>
            <a:off x="4480560" y="4937760"/>
            <a:ext cx="297300" cy="0"/>
          </a:xfrm>
          <a:prstGeom prst="straightConnector1">
            <a:avLst/>
          </a:prstGeom>
          <a:noFill/>
          <a:ln cap="flat" cmpd="sng" w="19050">
            <a:solidFill>
              <a:srgbClr val="6B728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73" name="Google Shape;373;p23"/>
          <p:cNvCxnSpPr/>
          <p:nvPr/>
        </p:nvCxnSpPr>
        <p:spPr>
          <a:xfrm>
            <a:off x="6240779" y="4937760"/>
            <a:ext cx="297300" cy="0"/>
          </a:xfrm>
          <a:prstGeom prst="straightConnector1">
            <a:avLst/>
          </a:prstGeom>
          <a:noFill/>
          <a:ln cap="flat" cmpd="sng" w="19050">
            <a:solidFill>
              <a:srgbClr val="6B728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74" name="Google Shape;374;p23"/>
          <p:cNvCxnSpPr/>
          <p:nvPr/>
        </p:nvCxnSpPr>
        <p:spPr>
          <a:xfrm>
            <a:off x="8001000" y="4937760"/>
            <a:ext cx="297300" cy="0"/>
          </a:xfrm>
          <a:prstGeom prst="straightConnector1">
            <a:avLst/>
          </a:prstGeom>
          <a:noFill/>
          <a:ln cap="flat" cmpd="sng" w="19050">
            <a:solidFill>
              <a:srgbClr val="6B728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75" name="Google Shape;375;p23"/>
          <p:cNvCxnSpPr/>
          <p:nvPr/>
        </p:nvCxnSpPr>
        <p:spPr>
          <a:xfrm>
            <a:off x="9761219" y="4937760"/>
            <a:ext cx="297300" cy="0"/>
          </a:xfrm>
          <a:prstGeom prst="straightConnector1">
            <a:avLst/>
          </a:prstGeom>
          <a:noFill/>
          <a:ln cap="flat" cmpd="sng" w="19050">
            <a:solidFill>
              <a:srgbClr val="6B728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76" name="Google Shape;376;p23"/>
          <p:cNvCxnSpPr/>
          <p:nvPr/>
        </p:nvCxnSpPr>
        <p:spPr>
          <a:xfrm flipH="1" rot="10800000">
            <a:off x="6012179" y="3794880"/>
            <a:ext cx="754500" cy="731400"/>
          </a:xfrm>
          <a:prstGeom prst="straightConnector1">
            <a:avLst/>
          </a:prstGeom>
          <a:noFill/>
          <a:ln cap="flat" cmpd="sng" w="19050">
            <a:solidFill>
              <a:srgbClr val="6B7280"/>
            </a:solidFill>
            <a:prstDash val="solid"/>
            <a:round/>
            <a:headEnd len="med" w="med" type="triangle"/>
            <a:tailEnd len="med" w="med" type="triangle"/>
          </a:ln>
        </p:spPr>
      </p:cxnSp>
    </p:spTree>
  </p:cSld>
  <p:clrMapOvr>
    <a:masterClrMapping/>
  </p:clrMapOvr>
  <p:transition spd="med"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24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83" name="Google Shape;383;p24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Diagrama de componentes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84" name="Google Shape;38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9715" y="1280160"/>
            <a:ext cx="9447847" cy="4983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25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91" name="Google Shape;391;p25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Componentes críticos: 6 de 18 (33%)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2" name="Google Shape;392;p25"/>
          <p:cNvSpPr/>
          <p:nvPr/>
        </p:nvSpPr>
        <p:spPr>
          <a:xfrm>
            <a:off x="777240" y="1371600"/>
            <a:ext cx="2834700" cy="4480500"/>
          </a:xfrm>
          <a:prstGeom prst="roundRect">
            <a:avLst>
              <a:gd fmla="val 16667" name="adj"/>
            </a:avLst>
          </a:prstGeom>
          <a:solidFill>
            <a:srgbClr val="DCE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393" name="Google Shape;393;p25"/>
          <p:cNvSpPr txBox="1"/>
          <p:nvPr/>
        </p:nvSpPr>
        <p:spPr>
          <a:xfrm>
            <a:off x="1005840" y="1554480"/>
            <a:ext cx="23775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33%</a:t>
            </a:r>
            <a:endParaRPr b="1" sz="60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4" name="Google Shape;394;p25"/>
          <p:cNvSpPr txBox="1"/>
          <p:nvPr/>
        </p:nvSpPr>
        <p:spPr>
          <a:xfrm>
            <a:off x="1005840" y="2743200"/>
            <a:ext cx="23775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6 de 18 componentes detalhados internamente (mínimo exigido: 30%)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5" name="Google Shape;395;p25"/>
          <p:cNvSpPr txBox="1"/>
          <p:nvPr/>
        </p:nvSpPr>
        <p:spPr>
          <a:xfrm>
            <a:off x="1005840" y="4069080"/>
            <a:ext cx="23775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Critério: essencial para ao menos uma das top 4, e sua falha compromete o produto.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396" name="Google Shape;396;p25"/>
          <p:cNvGraphicFramePr/>
          <p:nvPr/>
        </p:nvGraphicFramePr>
        <p:xfrm>
          <a:off x="3886200" y="1371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{8654D32E-62BC-4376-91E9-5BB6A67E0661}</a:tableStyleId>
              </a:tblPr>
              <a:tblGrid>
                <a:gridCol w="2560300"/>
                <a:gridCol w="2926075"/>
                <a:gridCol w="2377425"/>
              </a:tblGrid>
              <a:tr h="396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Componente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Por que é crítico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Top 4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96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C04 Autenticação e Sessão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Porta de entrada de todo acesso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Segurança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96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C08 Proc. de Pagamentos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Dinheiro e webhooks assíncronos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Segurança, Confiabilidade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96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C09 Carteira de Créditos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Saldo do usuário; corridas geram prejuízo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Confiabilidade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96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C11 Orquestrador de Captura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Fluxo distribuído mais longo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Confiabilidade, Escalabilidade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96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C12 Motor de Captura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Origem da evidência; conteúdo não confiável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Integridade, Segurança, Escalabilidade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96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C13 Selagem de Evidências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Transforma arquivo em prova verificável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Roboto"/>
                          <a:ea typeface="Roboto"/>
                          <a:cs typeface="Roboto"/>
                          <a:sym typeface="Roboto"/>
                        </a:rPr>
                        <a:t>Integridade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  <p:transition spd="med">
    <p:fade thruBlk="1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26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03" name="Google Shape;403;p26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C12 Motor de Captura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04" name="Google Shape;404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240" y="1417667"/>
            <a:ext cx="7223759" cy="4172476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26"/>
          <p:cNvSpPr txBox="1"/>
          <p:nvPr/>
        </p:nvSpPr>
        <p:spPr>
          <a:xfrm>
            <a:off x="8321040" y="141732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Ambiente controlado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6" name="Google Shape;406;p26"/>
          <p:cNvSpPr txBox="1"/>
          <p:nvPr/>
        </p:nvSpPr>
        <p:spPr>
          <a:xfrm>
            <a:off x="8321040" y="1828800"/>
            <a:ext cx="34290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 navegação acontece no servidor, não no dispositivo do usuário (ADR-0003).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7" name="Google Shape;407;p26"/>
          <p:cNvSpPr txBox="1"/>
          <p:nvPr/>
        </p:nvSpPr>
        <p:spPr>
          <a:xfrm>
            <a:off x="8321040" y="292608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Isolado e descartável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8" name="Google Shape;408;p26"/>
          <p:cNvSpPr txBox="1"/>
          <p:nvPr/>
        </p:nvSpPr>
        <p:spPr>
          <a:xfrm>
            <a:off x="8321040" y="3337560"/>
            <a:ext cx="34290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Contêiner efêmero, rede isolada, sem cookies persistentes.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9" name="Google Shape;409;p26"/>
          <p:cNvSpPr txBox="1"/>
          <p:nvPr/>
        </p:nvSpPr>
        <p:spPr>
          <a:xfrm>
            <a:off x="8321040" y="443484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Metadados técnicos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" name="Google Shape;410;p26"/>
          <p:cNvSpPr txBox="1"/>
          <p:nvPr/>
        </p:nvSpPr>
        <p:spPr>
          <a:xfrm>
            <a:off x="8321040" y="4846320"/>
            <a:ext cx="34290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URL final, IP, DNS, cabeçalhos HTTP, certificado TLS e horário NTP.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27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17" name="Google Shape;417;p27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C13 Selagem de Evidências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18" name="Google Shape;41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240" y="1280272"/>
            <a:ext cx="10972802" cy="2457289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p27"/>
          <p:cNvSpPr/>
          <p:nvPr/>
        </p:nvSpPr>
        <p:spPr>
          <a:xfrm>
            <a:off x="777240" y="4114800"/>
            <a:ext cx="2560200" cy="18288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20" name="Google Shape;420;p27"/>
          <p:cNvSpPr txBox="1"/>
          <p:nvPr/>
        </p:nvSpPr>
        <p:spPr>
          <a:xfrm>
            <a:off x="960120" y="425196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SHA-256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1" name="Google Shape;421;p27"/>
          <p:cNvSpPr txBox="1"/>
          <p:nvPr/>
        </p:nvSpPr>
        <p:spPr>
          <a:xfrm>
            <a:off x="960120" y="4983480"/>
            <a:ext cx="21945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Detecta qualquer alteração em qualquer arquivo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2" name="Google Shape;422;p27"/>
          <p:cNvSpPr/>
          <p:nvPr/>
        </p:nvSpPr>
        <p:spPr>
          <a:xfrm>
            <a:off x="3581430" y="4114800"/>
            <a:ext cx="2560200" cy="18288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23" name="Google Shape;423;p27"/>
          <p:cNvSpPr txBox="1"/>
          <p:nvPr/>
        </p:nvSpPr>
        <p:spPr>
          <a:xfrm>
            <a:off x="3764310" y="425196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Assinatura (KMS)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4" name="Google Shape;424;p27"/>
          <p:cNvSpPr txBox="1"/>
          <p:nvPr/>
        </p:nvSpPr>
        <p:spPr>
          <a:xfrm>
            <a:off x="3764310" y="4983480"/>
            <a:ext cx="21945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Prova que o pacote foi emitido pelo Veridit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5" name="Google Shape;425;p27"/>
          <p:cNvSpPr/>
          <p:nvPr/>
        </p:nvSpPr>
        <p:spPr>
          <a:xfrm>
            <a:off x="6385621" y="4114800"/>
            <a:ext cx="2560200" cy="18288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26" name="Google Shape;426;p27"/>
          <p:cNvSpPr txBox="1"/>
          <p:nvPr/>
        </p:nvSpPr>
        <p:spPr>
          <a:xfrm>
            <a:off x="6568501" y="425196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Carimbo do tempo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27"/>
          <p:cNvSpPr txBox="1"/>
          <p:nvPr/>
        </p:nvSpPr>
        <p:spPr>
          <a:xfrm>
            <a:off x="6568501" y="4983480"/>
            <a:ext cx="21945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ACT ICP-Brasil (RFC 3161) prova quando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8" name="Google Shape;428;p27"/>
          <p:cNvSpPr/>
          <p:nvPr/>
        </p:nvSpPr>
        <p:spPr>
          <a:xfrm>
            <a:off x="9189811" y="4114800"/>
            <a:ext cx="2560200" cy="18288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29" name="Google Shape;429;p27"/>
          <p:cNvSpPr txBox="1"/>
          <p:nvPr/>
        </p:nvSpPr>
        <p:spPr>
          <a:xfrm>
            <a:off x="9372691" y="425196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Armazenamento WORM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0" name="Google Shape;430;p27"/>
          <p:cNvSpPr txBox="1"/>
          <p:nvPr/>
        </p:nvSpPr>
        <p:spPr>
          <a:xfrm>
            <a:off x="9372691" y="4983480"/>
            <a:ext cx="21945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Nem administradores conseguem alterar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8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37" name="Google Shape;437;p28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C11 + C09: créditos nunca se perdem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38" name="Google Shape;43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521" y="1280160"/>
            <a:ext cx="4145693" cy="4983479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28"/>
          <p:cNvSpPr/>
          <p:nvPr/>
        </p:nvSpPr>
        <p:spPr>
          <a:xfrm>
            <a:off x="5486400" y="1417320"/>
            <a:ext cx="457200" cy="457200"/>
          </a:xfrm>
          <a:prstGeom prst="ellipse">
            <a:avLst/>
          </a:prstGeom>
          <a:solidFill>
            <a:srgbClr val="5A9A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1" sz="1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0" name="Google Shape;440;p28"/>
          <p:cNvSpPr txBox="1"/>
          <p:nvPr/>
        </p:nvSpPr>
        <p:spPr>
          <a:xfrm>
            <a:off x="6126480" y="1417320"/>
            <a:ext cx="56235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Reservar ao iniciar</a:t>
            </a:r>
            <a:endParaRPr b="1"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1" name="Google Shape;441;p28"/>
          <p:cNvSpPr txBox="1"/>
          <p:nvPr/>
        </p:nvSpPr>
        <p:spPr>
          <a:xfrm>
            <a:off x="6126480" y="1828800"/>
            <a:ext cx="562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Sem saldo, o registro é recusado e o usuário vai para a compra (ADR-0008).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2" name="Google Shape;442;p28"/>
          <p:cNvSpPr/>
          <p:nvPr/>
        </p:nvSpPr>
        <p:spPr>
          <a:xfrm>
            <a:off x="5486400" y="2624328"/>
            <a:ext cx="457200" cy="457200"/>
          </a:xfrm>
          <a:prstGeom prst="ellipse">
            <a:avLst/>
          </a:prstGeom>
          <a:solidFill>
            <a:srgbClr val="5A9A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1" sz="1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3" name="Google Shape;443;p28"/>
          <p:cNvSpPr txBox="1"/>
          <p:nvPr/>
        </p:nvSpPr>
        <p:spPr>
          <a:xfrm>
            <a:off x="6126480" y="2624328"/>
            <a:ext cx="56235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Consumir só após selar</a:t>
            </a:r>
            <a:endParaRPr b="1"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4" name="Google Shape;444;p28"/>
          <p:cNvSpPr txBox="1"/>
          <p:nvPr/>
        </p:nvSpPr>
        <p:spPr>
          <a:xfrm>
            <a:off x="6126480" y="3035808"/>
            <a:ext cx="562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 reserva vira consumo apenas quando a evidência está selada.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5" name="Google Shape;445;p28"/>
          <p:cNvSpPr/>
          <p:nvPr/>
        </p:nvSpPr>
        <p:spPr>
          <a:xfrm>
            <a:off x="5486400" y="3831336"/>
            <a:ext cx="457200" cy="457200"/>
          </a:xfrm>
          <a:prstGeom prst="ellipse">
            <a:avLst/>
          </a:prstGeom>
          <a:solidFill>
            <a:srgbClr val="5A9A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1" sz="1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6" name="Google Shape;446;p28"/>
          <p:cNvSpPr txBox="1"/>
          <p:nvPr/>
        </p:nvSpPr>
        <p:spPr>
          <a:xfrm>
            <a:off x="6126480" y="3831336"/>
            <a:ext cx="56235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Estornar em falha</a:t>
            </a:r>
            <a:endParaRPr b="1"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7" name="Google Shape;447;p28"/>
          <p:cNvSpPr txBox="1"/>
          <p:nvPr/>
        </p:nvSpPr>
        <p:spPr>
          <a:xfrm>
            <a:off x="6126480" y="4242816"/>
            <a:ext cx="562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Timeout, cancelamento ou erro devolvem a reserva (compensação da saga).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8" name="Google Shape;448;p28"/>
          <p:cNvSpPr/>
          <p:nvPr/>
        </p:nvSpPr>
        <p:spPr>
          <a:xfrm>
            <a:off x="5486400" y="5038344"/>
            <a:ext cx="457200" cy="457200"/>
          </a:xfrm>
          <a:prstGeom prst="ellipse">
            <a:avLst/>
          </a:prstGeom>
          <a:solidFill>
            <a:srgbClr val="5A9A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b="1" sz="1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28"/>
          <p:cNvSpPr txBox="1"/>
          <p:nvPr/>
        </p:nvSpPr>
        <p:spPr>
          <a:xfrm>
            <a:off x="6126480" y="5038344"/>
            <a:ext cx="56235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Nada se perde no caminho</a:t>
            </a:r>
            <a:endParaRPr b="1"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28"/>
          <p:cNvSpPr txBox="1"/>
          <p:nvPr/>
        </p:nvSpPr>
        <p:spPr>
          <a:xfrm>
            <a:off x="6126480" y="5449824"/>
            <a:ext cx="562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Outbox transacional, consumidores idempotentes e DLQ (ADR-0007).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9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57" name="Google Shape;457;p29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Diagrama de pacotes (módulos)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58" name="Google Shape;458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240" y="1280648"/>
            <a:ext cx="6603112" cy="4982505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p29"/>
          <p:cNvSpPr txBox="1"/>
          <p:nvPr/>
        </p:nvSpPr>
        <p:spPr>
          <a:xfrm>
            <a:off x="7726680" y="1417320"/>
            <a:ext cx="4023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Sem import entre serviços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0" name="Google Shape;460;p29"/>
          <p:cNvSpPr txBox="1"/>
          <p:nvPr/>
        </p:nvSpPr>
        <p:spPr>
          <a:xfrm>
            <a:off x="7726680" y="1828800"/>
            <a:ext cx="40233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Comunicação só por compartilhado.contratos (DTOs e eventos).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1" name="Google Shape;461;p29"/>
          <p:cNvSpPr txBox="1"/>
          <p:nvPr/>
        </p:nvSpPr>
        <p:spPr>
          <a:xfrm>
            <a:off x="7726680" y="3017520"/>
            <a:ext cx="4023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Camadas no serviço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2" name="Google Shape;462;p29"/>
          <p:cNvSpPr txBox="1"/>
          <p:nvPr/>
        </p:nvSpPr>
        <p:spPr>
          <a:xfrm>
            <a:off x="7726680" y="3429000"/>
            <a:ext cx="40233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api → aplicacao → dominio; a infraestrutura implementa as portas do domínio.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3" name="Google Shape;463;p29"/>
          <p:cNvSpPr txBox="1"/>
          <p:nvPr/>
        </p:nvSpPr>
        <p:spPr>
          <a:xfrm>
            <a:off x="7726680" y="4617720"/>
            <a:ext cx="4023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FA8"/>
                </a:solidFill>
                <a:latin typeface="Roboto"/>
                <a:ea typeface="Roboto"/>
                <a:cs typeface="Roboto"/>
                <a:sym typeface="Roboto"/>
              </a:rPr>
              <a:t>Verificado no CI</a:t>
            </a:r>
            <a:endParaRPr b="1" sz="1800">
              <a:solidFill>
                <a:srgbClr val="1F5FA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4" name="Google Shape;464;p29"/>
          <p:cNvSpPr txBox="1"/>
          <p:nvPr/>
        </p:nvSpPr>
        <p:spPr>
          <a:xfrm>
            <a:off x="7726680" y="5029200"/>
            <a:ext cx="40233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Funções de aptidão bloqueiam dependências proibidas e acesso a esquema alheio.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30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71" name="Google Shape;471;p30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Principais táticas do top 4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2" name="Google Shape;472;p30"/>
          <p:cNvSpPr/>
          <p:nvPr/>
        </p:nvSpPr>
        <p:spPr>
          <a:xfrm>
            <a:off x="777240" y="1371600"/>
            <a:ext cx="2560200" cy="43434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73" name="Google Shape;473;p30"/>
          <p:cNvSpPr/>
          <p:nvPr/>
        </p:nvSpPr>
        <p:spPr>
          <a:xfrm>
            <a:off x="1005840" y="1600200"/>
            <a:ext cx="457200" cy="457200"/>
          </a:xfrm>
          <a:prstGeom prst="ellipse">
            <a:avLst/>
          </a:prstGeom>
          <a:solidFill>
            <a:srgbClr val="FE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1" sz="1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4" name="Google Shape;474;p30"/>
          <p:cNvSpPr txBox="1"/>
          <p:nvPr/>
        </p:nvSpPr>
        <p:spPr>
          <a:xfrm>
            <a:off x="960120" y="2148840"/>
            <a:ext cx="219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Segurança</a:t>
            </a:r>
            <a:endParaRPr b="1" sz="2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5" name="Google Shape;475;p30"/>
          <p:cNvSpPr txBox="1"/>
          <p:nvPr/>
        </p:nvSpPr>
        <p:spPr>
          <a:xfrm>
            <a:off x="914400" y="2697480"/>
            <a:ext cx="2286000" cy="297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Autenticar e autorizar atores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Limitar acesso e exposição (gateway)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Separar entidades (sandbox, esquemas)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Revogar acesso no logout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6" name="Google Shape;476;p30"/>
          <p:cNvSpPr/>
          <p:nvPr/>
        </p:nvSpPr>
        <p:spPr>
          <a:xfrm>
            <a:off x="3581430" y="1371600"/>
            <a:ext cx="2560200" cy="43434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77" name="Google Shape;477;p30"/>
          <p:cNvSpPr/>
          <p:nvPr/>
        </p:nvSpPr>
        <p:spPr>
          <a:xfrm>
            <a:off x="3810030" y="1600200"/>
            <a:ext cx="457200" cy="457200"/>
          </a:xfrm>
          <a:prstGeom prst="ellipse">
            <a:avLst/>
          </a:prstGeom>
          <a:solidFill>
            <a:srgbClr val="5A9AD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1" sz="1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8" name="Google Shape;478;p30"/>
          <p:cNvSpPr txBox="1"/>
          <p:nvPr/>
        </p:nvSpPr>
        <p:spPr>
          <a:xfrm>
            <a:off x="3764310" y="2148840"/>
            <a:ext cx="219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Integridade</a:t>
            </a:r>
            <a:endParaRPr b="1" sz="2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9" name="Google Shape;479;p30"/>
          <p:cNvSpPr txBox="1"/>
          <p:nvPr/>
        </p:nvSpPr>
        <p:spPr>
          <a:xfrm>
            <a:off x="3718590" y="2697480"/>
            <a:ext cx="2286000" cy="297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Ambiente de captura controlado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Hash, assinatura e carimbo do tempo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Armazenamento imutável (WORM)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Cadeia de custódia encadeada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0" name="Google Shape;480;p30"/>
          <p:cNvSpPr/>
          <p:nvPr/>
        </p:nvSpPr>
        <p:spPr>
          <a:xfrm>
            <a:off x="6385621" y="1371600"/>
            <a:ext cx="2560200" cy="43434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81" name="Google Shape;481;p30"/>
          <p:cNvSpPr/>
          <p:nvPr/>
        </p:nvSpPr>
        <p:spPr>
          <a:xfrm>
            <a:off x="6614221" y="1600200"/>
            <a:ext cx="457200" cy="457200"/>
          </a:xfrm>
          <a:prstGeom prst="ellipse">
            <a:avLst/>
          </a:prstGeom>
          <a:solidFill>
            <a:srgbClr val="FFC50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latin typeface="Roboto"/>
                <a:ea typeface="Roboto"/>
                <a:cs typeface="Roboto"/>
                <a:sym typeface="Roboto"/>
              </a:rPr>
              <a:t>3</a:t>
            </a:r>
            <a:endParaRPr b="1"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2" name="Google Shape;482;p30"/>
          <p:cNvSpPr txBox="1"/>
          <p:nvPr/>
        </p:nvSpPr>
        <p:spPr>
          <a:xfrm>
            <a:off x="6568501" y="2148840"/>
            <a:ext cx="219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Confiabilidade</a:t>
            </a:r>
            <a:endParaRPr b="1" sz="2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3" name="Google Shape;483;p30"/>
          <p:cNvSpPr txBox="1"/>
          <p:nvPr/>
        </p:nvSpPr>
        <p:spPr>
          <a:xfrm>
            <a:off x="6522781" y="2697480"/>
            <a:ext cx="2286000" cy="297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Outbox transacional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Consumidores idempotentes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Saga com compensação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Reconciliação de pagamentos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4" name="Google Shape;484;p30"/>
          <p:cNvSpPr/>
          <p:nvPr/>
        </p:nvSpPr>
        <p:spPr>
          <a:xfrm>
            <a:off x="9189811" y="1371600"/>
            <a:ext cx="2560200" cy="43434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85" name="Google Shape;485;p30"/>
          <p:cNvSpPr/>
          <p:nvPr/>
        </p:nvSpPr>
        <p:spPr>
          <a:xfrm>
            <a:off x="9418411" y="1600200"/>
            <a:ext cx="457200" cy="457200"/>
          </a:xfrm>
          <a:prstGeom prst="ellipse">
            <a:avLst/>
          </a:prstGeom>
          <a:solidFill>
            <a:srgbClr val="70AC4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b="1" sz="1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6" name="Google Shape;486;p30"/>
          <p:cNvSpPr txBox="1"/>
          <p:nvPr/>
        </p:nvSpPr>
        <p:spPr>
          <a:xfrm>
            <a:off x="9372691" y="2148840"/>
            <a:ext cx="219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Escalabilidade</a:t>
            </a:r>
            <a:endParaRPr b="1" sz="2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p30"/>
          <p:cNvSpPr txBox="1"/>
          <p:nvPr/>
        </p:nvSpPr>
        <p:spPr>
          <a:xfrm>
            <a:off x="9326971" y="2697480"/>
            <a:ext cx="2286000" cy="297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Workers sem estado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Autoescalonamento pela fila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Fila como buffer de carga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73050" lvl="0" marL="177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</a:pPr>
            <a:r>
              <a:rPr lang="en-US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Limitar demanda por usuário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8" name="Google Shape;488;p30"/>
          <p:cNvSpPr txBox="1"/>
          <p:nvPr/>
        </p:nvSpPr>
        <p:spPr>
          <a:xfrm>
            <a:off x="777240" y="5852160"/>
            <a:ext cx="10972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 documento traz as táticas das 12 características, com o objetivo de cada uma (seção 9).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31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495" name="Google Shape;495;p31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Decisões arquiteturais (ADRs)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96" name="Google Shape;496;p31"/>
          <p:cNvGraphicFramePr/>
          <p:nvPr/>
        </p:nvGraphicFramePr>
        <p:xfrm>
          <a:off x="777240" y="1371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{8654D32E-62BC-4376-91E9-5BB6A67E0661}</a:tableStyleId>
              </a:tblPr>
              <a:tblGrid>
                <a:gridCol w="914400"/>
                <a:gridCol w="4434825"/>
              </a:tblGrid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ADR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Decisão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rgbClr val="1F5FA8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0001</a:t>
                      </a:r>
                      <a:endParaRPr b="1" sz="1600">
                        <a:solidFill>
                          <a:srgbClr val="1F5FA8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solidFill>
                      <a:srgbClr val="DCEA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rgbClr val="1F5FA8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Top 4 características</a:t>
                      </a:r>
                      <a:endParaRPr b="1" sz="1600">
                        <a:solidFill>
                          <a:srgbClr val="1F5FA8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solidFill>
                      <a:srgbClr val="DCEAF7"/>
                    </a:solidFill>
                  </a:tcPr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rgbClr val="1F5FA8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0002</a:t>
                      </a:r>
                      <a:endParaRPr b="1" sz="1600">
                        <a:solidFill>
                          <a:srgbClr val="1F5FA8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solidFill>
                      <a:srgbClr val="DCEA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rgbClr val="1F5FA8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Estilo baseado em serviços</a:t>
                      </a:r>
                      <a:endParaRPr b="1" sz="1600">
                        <a:solidFill>
                          <a:srgbClr val="1F5FA8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solidFill>
                      <a:srgbClr val="DCEAF7"/>
                    </a:solidFill>
                  </a:tcPr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0003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Captura em navegador remoto isolado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0004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Selagem: hash, assinatura, carimbo, WORM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0005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JWT curto + refresh revogável; Argon2id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497" name="Google Shape;497;p31"/>
          <p:cNvGraphicFramePr/>
          <p:nvPr/>
        </p:nvGraphicFramePr>
        <p:xfrm>
          <a:off x="6400800" y="1371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{8654D32E-62BC-4376-91E9-5BB6A67E0661}</a:tableStyleId>
              </a:tblPr>
              <a:tblGrid>
                <a:gridCol w="914400"/>
                <a:gridCol w="4434825"/>
              </a:tblGrid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ADR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Decisão</a:t>
                      </a:r>
                      <a:endParaRPr b="1"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0006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Pagamentos via Mercado Pago (checkout e Pix)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0007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Outbox, filas duráveis, DLQ e saga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0008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Carteira como livro-razão com reserva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0009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Workers de captura com autoescalonamento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0010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PostgreSQL com esquema por serviço + objetos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498" name="Google Shape;498;p31"/>
          <p:cNvSpPr txBox="1"/>
          <p:nvPr/>
        </p:nvSpPr>
        <p:spPr>
          <a:xfrm>
            <a:off x="777240" y="525780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Mantidas no Git em docs/arquitetura/adr/.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2"/>
          <p:cNvSpPr txBox="1"/>
          <p:nvPr>
            <p:ph idx="12" type="sldNum"/>
          </p:nvPr>
        </p:nvSpPr>
        <p:spPr>
          <a:xfrm>
            <a:off x="11725654" y="6508750"/>
            <a:ext cx="485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400"/>
              <a:buFont typeface="Questrial"/>
              <a:buNone/>
            </a:pPr>
            <a:fld id="{00000000-1234-1234-1234-123412341234}" type="slidenum">
              <a:rPr b="1" i="0" lang="en-US" sz="1600" u="none" cap="none" strike="noStrike">
                <a:solidFill>
                  <a:srgbClr val="7030A0"/>
                </a:solidFill>
                <a:latin typeface="Questrial"/>
                <a:ea typeface="Questrial"/>
                <a:cs typeface="Questrial"/>
                <a:sym typeface="Questrial"/>
              </a:rPr>
              <a:t>‹#›</a:t>
            </a:fld>
            <a:endParaRPr b="1" i="0" sz="1600" u="none" cap="none" strike="noStrike">
              <a:solidFill>
                <a:srgbClr val="7030A0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  <p:sp>
        <p:nvSpPr>
          <p:cNvPr id="505" name="Google Shape;505;p32"/>
          <p:cNvSpPr txBox="1"/>
          <p:nvPr/>
        </p:nvSpPr>
        <p:spPr>
          <a:xfrm>
            <a:off x="901500" y="3048100"/>
            <a:ext cx="11290500" cy="134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marR="7620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Perguntas?</a:t>
            </a:r>
            <a:endParaRPr sz="35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6" name="Google Shape;506;p32"/>
          <p:cNvSpPr txBox="1"/>
          <p:nvPr/>
        </p:nvSpPr>
        <p:spPr>
          <a:xfrm>
            <a:off x="773975" y="132850"/>
            <a:ext cx="112905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76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202124"/>
                </a:solidFill>
                <a:latin typeface="Roboto"/>
                <a:ea typeface="Roboto"/>
                <a:cs typeface="Roboto"/>
                <a:sym typeface="Roboto"/>
              </a:rPr>
              <a:t>Obrigado!</a:t>
            </a:r>
            <a:endParaRPr sz="4000">
              <a:solidFill>
                <a:srgbClr val="20212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ransition spd="med">
    <p:fade thruBlk="1"/>
  </p:transition>
</p:sld>
</file>

<file path=ppt/theme/theme1.xml><?xml version="1.0" encoding="utf-8"?>
<a:theme xmlns:a="http://schemas.openxmlformats.org/drawingml/2006/main" xmlns:r="http://schemas.openxmlformats.org/officeDocument/2006/relationships" name="Presentation level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